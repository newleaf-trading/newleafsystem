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1F"/>
        </a:solidFill>
      </p:bgPr>
    </p:bg>
    <p:spTree>
      <p:nvGrpSpPr>
        <p:cNvPr id="1" name=""/>
        <p:cNvGrpSpPr/>
        <p:nvPr/>
      </p:nvGrpSpPr>
      <p:grpSpPr>
        <a:xfrm>
          <a:off x="0" y="0"/>
          <a:ext cx="0" cy="0"/>
          <a:chOff x="0" y="0"/>
          <a:chExt cx="0" cy="0"/>
        </a:xfrm>
      </p:grpSpPr>
      <p:sp>
        <p:nvSpPr>
          <p:cNvPr id="2" name="Shape 0"/>
          <p:cNvSpPr/>
          <p:nvPr/>
        </p:nvSpPr>
        <p:spPr>
          <a:xfrm>
            <a:off x="8778240" y="-1645920"/>
            <a:ext cx="5120640" cy="5120640"/>
          </a:xfrm>
          <a:prstGeom prst="ellipse">
            <a:avLst/>
          </a:prstGeom>
          <a:solidFill>
            <a:srgbClr val="1F6B4A">
              <a:alpha val="30000"/>
            </a:srgbClr>
          </a:solidFill>
          <a:ln/>
        </p:spPr>
      </p:sp>
      <p:sp>
        <p:nvSpPr>
          <p:cNvPr id="3" name="Shape 1"/>
          <p:cNvSpPr/>
          <p:nvPr/>
        </p:nvSpPr>
        <p:spPr>
          <a:xfrm>
            <a:off x="10332720" y="3291840"/>
            <a:ext cx="3657600" cy="3657600"/>
          </a:xfrm>
          <a:prstGeom prst="ellipse">
            <a:avLst/>
          </a:prstGeom>
          <a:solidFill>
            <a:srgbClr val="2F9E6B">
              <a:alpha val="20000"/>
            </a:srgbClr>
          </a:solidFill>
          <a:ln/>
        </p:spPr>
      </p:sp>
      <p:sp>
        <p:nvSpPr>
          <p:cNvPr id="4" name="Text 2"/>
          <p:cNvSpPr/>
          <p:nvPr/>
        </p:nvSpPr>
        <p:spPr>
          <a:xfrm>
            <a:off x="731520" y="1371600"/>
            <a:ext cx="8229600" cy="365760"/>
          </a:xfrm>
          <a:prstGeom prst="rect">
            <a:avLst/>
          </a:prstGeom>
          <a:noFill/>
          <a:ln/>
        </p:spPr>
        <p:txBody>
          <a:bodyPr wrap="square" rtlCol="0" anchor="ctr"/>
          <a:lstStyle/>
          <a:p>
            <a:pPr indent="0" marL="0">
              <a:buNone/>
            </a:pPr>
            <a:r>
              <a:rPr lang="en-US" sz="1300" b="1" spc="400" kern="0" dirty="0">
                <a:solidFill>
                  <a:srgbClr val="2F9E6B"/>
                </a:solidFill>
                <a:latin typeface="Consolas" pitchFamily="34" charset="0"/>
                <a:ea typeface="Consolas" pitchFamily="34" charset="-122"/>
                <a:cs typeface="Consolas" pitchFamily="34" charset="-120"/>
              </a:rPr>
              <a:t>NEWLEAF SYSTEM</a:t>
            </a:r>
            <a:endParaRPr lang="en-US" sz="1300" dirty="0"/>
          </a:p>
        </p:txBody>
      </p:sp>
      <p:sp>
        <p:nvSpPr>
          <p:cNvPr id="5" name="Text 3"/>
          <p:cNvSpPr/>
          <p:nvPr/>
        </p:nvSpPr>
        <p:spPr>
          <a:xfrm>
            <a:off x="731520" y="1828800"/>
            <a:ext cx="10515600" cy="914400"/>
          </a:xfrm>
          <a:prstGeom prst="rect">
            <a:avLst/>
          </a:prstGeom>
          <a:noFill/>
          <a:ln/>
        </p:spPr>
        <p:txBody>
          <a:bodyPr wrap="square" rtlCol="0" anchor="ctr"/>
          <a:lstStyle/>
          <a:p>
            <a:pPr indent="0" marL="0">
              <a:buNone/>
            </a:pPr>
            <a:r>
              <a:rPr lang="en-US" sz="4200" b="1" dirty="0">
                <a:solidFill>
                  <a:srgbClr val="FFFFFF"/>
                </a:solidFill>
                <a:latin typeface="Georgia" pitchFamily="34" charset="0"/>
                <a:ea typeface="Georgia" pitchFamily="34" charset="-122"/>
                <a:cs typeface="Georgia" pitchFamily="34" charset="-120"/>
              </a:rPr>
              <a:t>The Indicators, One by One</a:t>
            </a:r>
            <a:endParaRPr lang="en-US" sz="4200" dirty="0"/>
          </a:p>
        </p:txBody>
      </p:sp>
      <p:sp>
        <p:nvSpPr>
          <p:cNvPr id="6" name="Text 4"/>
          <p:cNvSpPr/>
          <p:nvPr/>
        </p:nvSpPr>
        <p:spPr>
          <a:xfrm>
            <a:off x="731520" y="2834640"/>
            <a:ext cx="9601200" cy="914400"/>
          </a:xfrm>
          <a:prstGeom prst="rect">
            <a:avLst/>
          </a:prstGeom>
          <a:noFill/>
          <a:ln/>
        </p:spPr>
        <p:txBody>
          <a:bodyPr wrap="square" rtlCol="0" anchor="ctr"/>
          <a:lstStyle/>
          <a:p>
            <a:pPr indent="0" marL="0">
              <a:lnSpc>
                <a:spcPct val="120000"/>
              </a:lnSpc>
              <a:buNone/>
            </a:pPr>
            <a:r>
              <a:rPr lang="en-US" sz="1700" dirty="0">
                <a:solidFill>
                  <a:srgbClr val="DCEEE4"/>
                </a:solidFill>
                <a:latin typeface="Calibri" pitchFamily="34" charset="0"/>
                <a:ea typeface="Calibri" pitchFamily="34" charset="-122"/>
                <a:cs typeface="Calibri" pitchFamily="34" charset="-120"/>
              </a:rPr>
              <a:t>Each signal we read — what it measures, how it's calculated, the exact thresholds, and why it does (or doesn't) drive the recommendation.</a:t>
            </a:r>
            <a:endParaRPr lang="en-US" sz="1700" dirty="0"/>
          </a:p>
        </p:txBody>
      </p:sp>
      <p:sp>
        <p:nvSpPr>
          <p:cNvPr id="7" name="Text 5"/>
          <p:cNvSpPr/>
          <p:nvPr/>
        </p:nvSpPr>
        <p:spPr>
          <a:xfrm>
            <a:off x="731520" y="4206240"/>
            <a:ext cx="10058400" cy="457200"/>
          </a:xfrm>
          <a:prstGeom prst="rect">
            <a:avLst/>
          </a:prstGeom>
          <a:noFill/>
          <a:ln/>
        </p:spPr>
        <p:txBody>
          <a:bodyPr wrap="square" rtlCol="0" anchor="ctr"/>
          <a:lstStyle/>
          <a:p>
            <a:pPr indent="0" marL="0">
              <a:buNone/>
            </a:pPr>
            <a:r>
              <a:rPr lang="en-US" sz="1400" b="1" dirty="0">
                <a:solidFill>
                  <a:srgbClr val="2F9E6B"/>
                </a:solidFill>
                <a:latin typeface="Consolas" pitchFamily="34" charset="0"/>
                <a:ea typeface="Consolas" pitchFamily="34" charset="-122"/>
                <a:cs typeface="Consolas" pitchFamily="34" charset="-120"/>
              </a:rPr>
              <a:t>8 DRIVE the pick   </a:t>
            </a:r>
            <a:pPr indent="0" marL="0">
              <a:buNone/>
            </a:pPr>
            <a:r>
              <a:rPr lang="en-US" sz="1400" dirty="0">
                <a:solidFill>
                  <a:srgbClr val="DCEEE4"/>
                </a:solidFill>
                <a:latin typeface="Consolas" pitchFamily="34" charset="0"/>
                <a:ea typeface="Consolas" pitchFamily="34" charset="-122"/>
                <a:cs typeface="Consolas" pitchFamily="34" charset="-120"/>
              </a:rPr>
              <a:t>· 1 also MODULATES the score   </a:t>
            </a:r>
            <a:pPr indent="0" marL="0">
              <a:buNone/>
            </a:pPr>
            <a:r>
              <a:rPr lang="en-US" sz="1400" dirty="0">
                <a:solidFill>
                  <a:srgbClr val="7D8A82"/>
                </a:solidFill>
                <a:latin typeface="Consolas" pitchFamily="34" charset="0"/>
                <a:ea typeface="Consolas" pitchFamily="34" charset="-122"/>
                <a:cs typeface="Consolas" pitchFamily="34" charset="-120"/>
              </a:rPr>
              <a:t>· 2 are DISPLAY-only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1E8"/>
        </a:solidFill>
      </p:bgPr>
    </p:bg>
    <p:spTree>
      <p:nvGrpSpPr>
        <p:cNvPr id="1" name=""/>
        <p:cNvGrpSpPr/>
        <p:nvPr/>
      </p:nvGrpSpPr>
      <p:grpSpPr>
        <a:xfrm>
          <a:off x="0" y="0"/>
          <a:ext cx="0" cy="0"/>
          <a:chOff x="0" y="0"/>
          <a:chExt cx="0" cy="0"/>
        </a:xfrm>
      </p:grpSpPr>
      <p:sp>
        <p:nvSpPr>
          <p:cNvPr id="2" name="Text 0"/>
          <p:cNvSpPr/>
          <p:nvPr/>
        </p:nvSpPr>
        <p:spPr>
          <a:xfrm>
            <a:off x="640080" y="411480"/>
            <a:ext cx="10515600" cy="274320"/>
          </a:xfrm>
          <a:prstGeom prst="rect">
            <a:avLst/>
          </a:prstGeom>
          <a:noFill/>
          <a:ln/>
        </p:spPr>
        <p:txBody>
          <a:bodyPr wrap="square" rtlCol="0" anchor="ctr"/>
          <a:lstStyle/>
          <a:p>
            <a:pPr indent="0" marL="0">
              <a:buNone/>
            </a:pPr>
            <a:r>
              <a:rPr lang="en-US" sz="1100" b="1" spc="300" kern="0" dirty="0">
                <a:solidFill>
                  <a:srgbClr val="1F6B4A"/>
                </a:solidFill>
                <a:latin typeface="Consolas" pitchFamily="34" charset="0"/>
                <a:ea typeface="Consolas" pitchFamily="34" charset="-122"/>
                <a:cs typeface="Consolas" pitchFamily="34" charset="-120"/>
              </a:rPr>
              <a:t>INDICATOR 1 OF 10 · DIRECTION</a:t>
            </a:r>
            <a:endParaRPr lang="en-US" sz="1100" dirty="0"/>
          </a:p>
        </p:txBody>
      </p:sp>
      <p:sp>
        <p:nvSpPr>
          <p:cNvPr id="3" name="Text 1"/>
          <p:cNvSpPr/>
          <p:nvPr/>
        </p:nvSpPr>
        <p:spPr>
          <a:xfrm>
            <a:off x="640080" y="694944"/>
            <a:ext cx="11064240" cy="640080"/>
          </a:xfrm>
          <a:prstGeom prst="rect">
            <a:avLst/>
          </a:prstGeom>
          <a:noFill/>
          <a:ln/>
        </p:spPr>
        <p:txBody>
          <a:bodyPr wrap="square" rtlCol="0" anchor="ctr"/>
          <a:lstStyle/>
          <a:p>
            <a:pPr indent="0" marL="0">
              <a:buNone/>
            </a:pPr>
            <a:r>
              <a:rPr lang="en-US" sz="2700" b="1" dirty="0">
                <a:solidFill>
                  <a:srgbClr val="1C2620"/>
                </a:solidFill>
                <a:latin typeface="Georgia" pitchFamily="34" charset="0"/>
                <a:ea typeface="Georgia" pitchFamily="34" charset="-122"/>
                <a:cs typeface="Georgia" pitchFamily="34" charset="-120"/>
              </a:rPr>
              <a:t>SMA 50 / 100 / 200</a:t>
            </a:r>
            <a:endParaRPr lang="en-US" sz="2700" dirty="0"/>
          </a:p>
        </p:txBody>
      </p:sp>
      <p:sp>
        <p:nvSpPr>
          <p:cNvPr id="4" name="Shape 2"/>
          <p:cNvSpPr/>
          <p:nvPr/>
        </p:nvSpPr>
        <p:spPr>
          <a:xfrm>
            <a:off x="9052560" y="749808"/>
            <a:ext cx="961949" cy="384048"/>
          </a:xfrm>
          <a:prstGeom prst="roundRect">
            <a:avLst>
              <a:gd name="adj" fmla="val 50000"/>
            </a:avLst>
          </a:prstGeom>
          <a:solidFill>
            <a:srgbClr val="1F6B4A"/>
          </a:solidFill>
          <a:ln/>
        </p:spPr>
      </p:sp>
      <p:sp>
        <p:nvSpPr>
          <p:cNvPr id="5" name="Text 3"/>
          <p:cNvSpPr/>
          <p:nvPr/>
        </p:nvSpPr>
        <p:spPr>
          <a:xfrm>
            <a:off x="9052560" y="749808"/>
            <a:ext cx="961949" cy="384048"/>
          </a:xfrm>
          <a:prstGeom prst="rect">
            <a:avLst/>
          </a:prstGeom>
          <a:noFill/>
          <a:ln/>
        </p:spPr>
        <p:txBody>
          <a:bodyPr wrap="square" rtlCol="0" anchor="ctr"/>
          <a:lstStyle/>
          <a:p>
            <a:pPr algn="ctr" indent="0" marL="0">
              <a:buNone/>
            </a:pPr>
            <a:r>
              <a:rPr lang="en-US" sz="1100" b="1" spc="100" kern="0" dirty="0">
                <a:solidFill>
                  <a:srgbClr val="FFFFFF"/>
                </a:solidFill>
                <a:latin typeface="Consolas" pitchFamily="34" charset="0"/>
                <a:ea typeface="Consolas" pitchFamily="34" charset="-122"/>
                <a:cs typeface="Consolas" pitchFamily="34" charset="-120"/>
              </a:rPr>
              <a:t>DRIVES</a:t>
            </a:r>
            <a:endParaRPr lang="en-US" sz="1100" dirty="0"/>
          </a:p>
        </p:txBody>
      </p:sp>
      <p:sp>
        <p:nvSpPr>
          <p:cNvPr id="6" name="Text 4"/>
          <p:cNvSpPr/>
          <p:nvPr/>
        </p:nvSpPr>
        <p:spPr>
          <a:xfrm>
            <a:off x="640080" y="1417320"/>
            <a:ext cx="10789920" cy="457200"/>
          </a:xfrm>
          <a:prstGeom prst="rect">
            <a:avLst/>
          </a:prstGeom>
          <a:noFill/>
          <a:ln/>
        </p:spPr>
        <p:txBody>
          <a:bodyPr wrap="square" rtlCol="0" anchor="ctr"/>
          <a:lstStyle/>
          <a:p>
            <a:pPr indent="0" marL="0">
              <a:buNone/>
            </a:pPr>
            <a:r>
              <a:rPr lang="en-US" sz="1500" i="1" dirty="0">
                <a:solidFill>
                  <a:srgbClr val="1C2620"/>
                </a:solidFill>
                <a:latin typeface="Calibri" pitchFamily="34" charset="0"/>
                <a:ea typeface="Calibri" pitchFamily="34" charset="-122"/>
                <a:cs typeface="Calibri" pitchFamily="34" charset="-120"/>
              </a:rPr>
              <a:t>The moving-average stack — sets the trend DIRECTION.</a:t>
            </a:r>
            <a:endParaRPr lang="en-US" sz="1500" dirty="0"/>
          </a:p>
        </p:txBody>
      </p:sp>
      <p:sp>
        <p:nvSpPr>
          <p:cNvPr id="7" name="Shape 5"/>
          <p:cNvSpPr/>
          <p:nvPr/>
        </p:nvSpPr>
        <p:spPr>
          <a:xfrm>
            <a:off x="640080" y="1965960"/>
            <a:ext cx="5349240" cy="4114800"/>
          </a:xfrm>
          <a:prstGeom prst="roundRect">
            <a:avLst>
              <a:gd name="adj" fmla="val 1333"/>
            </a:avLst>
          </a:prstGeom>
          <a:solidFill>
            <a:srgbClr val="FFFFFF"/>
          </a:solidFill>
          <a:ln w="12700">
            <a:solidFill>
              <a:srgbClr val="E4DDD0"/>
            </a:solidFill>
            <a:prstDash val="solid"/>
          </a:ln>
          <a:effectLst>
            <a:outerShdw sx="100000" sy="100000" kx="0" ky="0" algn="bl" rotWithShape="0" blurRad="76200" dist="38100" dir="8100000">
              <a:srgbClr val="000000">
                <a:alpha val="12000"/>
              </a:srgbClr>
            </a:outerShdw>
          </a:effectLst>
        </p:spPr>
      </p:sp>
      <p:sp>
        <p:nvSpPr>
          <p:cNvPr id="8" name="Text 6"/>
          <p:cNvSpPr/>
          <p:nvPr/>
        </p:nvSpPr>
        <p:spPr>
          <a:xfrm>
            <a:off x="914400" y="2121408"/>
            <a:ext cx="4754880" cy="274320"/>
          </a:xfrm>
          <a:prstGeom prst="rect">
            <a:avLst/>
          </a:prstGeom>
          <a:noFill/>
          <a:ln/>
        </p:spPr>
        <p:txBody>
          <a:bodyPr wrap="square" rtlCol="0" anchor="ctr"/>
          <a:lstStyle/>
          <a:p>
            <a:pPr indent="0" marL="0">
              <a:buNone/>
            </a:pPr>
            <a:r>
              <a:rPr lang="en-US" sz="1000" b="1" spc="100" kern="0" dirty="0">
                <a:solidFill>
                  <a:srgbClr val="1F6B4A"/>
                </a:solidFill>
                <a:latin typeface="Consolas" pitchFamily="34" charset="0"/>
                <a:ea typeface="Consolas" pitchFamily="34" charset="-122"/>
                <a:cs typeface="Consolas" pitchFamily="34" charset="-120"/>
              </a:rPr>
              <a:t>WHAT IT MEASURES</a:t>
            </a:r>
            <a:endParaRPr lang="en-US" sz="1000" dirty="0"/>
          </a:p>
        </p:txBody>
      </p:sp>
      <p:sp>
        <p:nvSpPr>
          <p:cNvPr id="9" name="Text 7"/>
          <p:cNvSpPr/>
          <p:nvPr/>
        </p:nvSpPr>
        <p:spPr>
          <a:xfrm>
            <a:off x="914400" y="2423160"/>
            <a:ext cx="4846320" cy="1143000"/>
          </a:xfrm>
          <a:prstGeom prst="rect">
            <a:avLst/>
          </a:prstGeom>
          <a:noFill/>
          <a:ln/>
        </p:spPr>
        <p:txBody>
          <a:bodyPr wrap="square" rtlCol="0" anchor="t"/>
          <a:lstStyle/>
          <a:p>
            <a:pPr indent="0" marL="0">
              <a:lnSpc>
                <a:spcPct val="120000"/>
              </a:lnSpc>
              <a:buNone/>
            </a:pPr>
            <a:r>
              <a:rPr lang="en-US" sz="1350" dirty="0">
                <a:solidFill>
                  <a:srgbClr val="1C2620"/>
                </a:solidFill>
                <a:latin typeface="Calibri" pitchFamily="34" charset="0"/>
                <a:ea typeface="Calibri" pitchFamily="34" charset="-122"/>
                <a:cs typeface="Calibri" pitchFamily="34" charset="-120"/>
              </a:rPr>
              <a:t>The stock's simple moving average over the last 50, 100, and 200 trading days. Stacking these shows the shape of the trend.</a:t>
            </a:r>
            <a:endParaRPr lang="en-US" sz="1350" dirty="0"/>
          </a:p>
        </p:txBody>
      </p:sp>
      <p:sp>
        <p:nvSpPr>
          <p:cNvPr id="10" name="Text 8"/>
          <p:cNvSpPr/>
          <p:nvPr/>
        </p:nvSpPr>
        <p:spPr>
          <a:xfrm>
            <a:off x="914400" y="3611880"/>
            <a:ext cx="4754880" cy="274320"/>
          </a:xfrm>
          <a:prstGeom prst="rect">
            <a:avLst/>
          </a:prstGeom>
          <a:noFill/>
          <a:ln/>
        </p:spPr>
        <p:txBody>
          <a:bodyPr wrap="square" rtlCol="0" anchor="ctr"/>
          <a:lstStyle/>
          <a:p>
            <a:pPr indent="0" marL="0">
              <a:buNone/>
            </a:pPr>
            <a:r>
              <a:rPr lang="en-US" sz="1000" b="1" spc="100" kern="0" dirty="0">
                <a:solidFill>
                  <a:srgbClr val="1F6B4A"/>
                </a:solidFill>
                <a:latin typeface="Consolas" pitchFamily="34" charset="0"/>
                <a:ea typeface="Consolas" pitchFamily="34" charset="-122"/>
                <a:cs typeface="Consolas" pitchFamily="34" charset="-120"/>
              </a:rPr>
              <a:t>HOW IT'S COMPUTED</a:t>
            </a:r>
            <a:endParaRPr lang="en-US" sz="1000" dirty="0"/>
          </a:p>
        </p:txBody>
      </p:sp>
      <p:sp>
        <p:nvSpPr>
          <p:cNvPr id="11" name="Text 9"/>
          <p:cNvSpPr/>
          <p:nvPr/>
        </p:nvSpPr>
        <p:spPr>
          <a:xfrm>
            <a:off x="914400" y="3913632"/>
            <a:ext cx="4846320" cy="2011680"/>
          </a:xfrm>
          <a:prstGeom prst="rect">
            <a:avLst/>
          </a:prstGeom>
          <a:noFill/>
          <a:ln/>
        </p:spPr>
        <p:txBody>
          <a:bodyPr wrap="square" rtlCol="0" anchor="t"/>
          <a:lstStyle/>
          <a:p>
            <a:pPr indent="0" marL="0">
              <a:lnSpc>
                <a:spcPct val="120000"/>
              </a:lnSpc>
              <a:buNone/>
            </a:pPr>
            <a:r>
              <a:rPr lang="en-US" sz="1300" dirty="0">
                <a:solidFill>
                  <a:srgbClr val="1C2620"/>
                </a:solidFill>
                <a:latin typeface="Calibri" pitchFamily="34" charset="0"/>
                <a:ea typeface="Calibri" pitchFamily="34" charset="-122"/>
                <a:cs typeface="Calibri" pitchFamily="34" charset="-120"/>
              </a:rPr>
              <a:t>SMA(n) = average of the last n daily closing prices. We fetch 400 calendar days of bars so all three (and the 200-day) populate with real data — a shorter window silently returns zero for the 200-day.</a:t>
            </a:r>
            <a:endParaRPr lang="en-US" sz="1300" dirty="0"/>
          </a:p>
        </p:txBody>
      </p:sp>
      <p:sp>
        <p:nvSpPr>
          <p:cNvPr id="12" name="Shape 10"/>
          <p:cNvSpPr/>
          <p:nvPr/>
        </p:nvSpPr>
        <p:spPr>
          <a:xfrm>
            <a:off x="6172200" y="1965960"/>
            <a:ext cx="5349240" cy="1783080"/>
          </a:xfrm>
          <a:prstGeom prst="roundRect">
            <a:avLst>
              <a:gd name="adj" fmla="val 3077"/>
            </a:avLst>
          </a:prstGeom>
          <a:solidFill>
            <a:srgbClr val="0F2A1F"/>
          </a:solidFill>
          <a:ln/>
        </p:spPr>
      </p:sp>
      <p:sp>
        <p:nvSpPr>
          <p:cNvPr id="13" name="Text 11"/>
          <p:cNvSpPr/>
          <p:nvPr/>
        </p:nvSpPr>
        <p:spPr>
          <a:xfrm>
            <a:off x="6446520" y="2121408"/>
            <a:ext cx="4754880" cy="274320"/>
          </a:xfrm>
          <a:prstGeom prst="rect">
            <a:avLst/>
          </a:prstGeom>
          <a:noFill/>
          <a:ln/>
        </p:spPr>
        <p:txBody>
          <a:bodyPr wrap="square" rtlCol="0" anchor="ctr"/>
          <a:lstStyle/>
          <a:p>
            <a:pPr indent="0" marL="0">
              <a:buNone/>
            </a:pPr>
            <a:r>
              <a:rPr lang="en-US" sz="1000" b="1" spc="100" kern="0" dirty="0">
                <a:solidFill>
                  <a:srgbClr val="CAA12F"/>
                </a:solidFill>
                <a:latin typeface="Consolas" pitchFamily="34" charset="0"/>
                <a:ea typeface="Consolas" pitchFamily="34" charset="-122"/>
                <a:cs typeface="Consolas" pitchFamily="34" charset="-120"/>
              </a:rPr>
              <a:t>THRESHOLDS / VALUES</a:t>
            </a:r>
            <a:endParaRPr lang="en-US" sz="1000" dirty="0"/>
          </a:p>
        </p:txBody>
      </p:sp>
      <p:sp>
        <p:nvSpPr>
          <p:cNvPr id="14" name="Text 12"/>
          <p:cNvSpPr/>
          <p:nvPr/>
        </p:nvSpPr>
        <p:spPr>
          <a:xfrm>
            <a:off x="6446520" y="2423160"/>
            <a:ext cx="4846320" cy="1234440"/>
          </a:xfrm>
          <a:prstGeom prst="rect">
            <a:avLst/>
          </a:prstGeom>
          <a:noFill/>
          <a:ln/>
        </p:spPr>
        <p:txBody>
          <a:bodyPr wrap="square" rtlCol="0" anchor="t"/>
          <a:lstStyle/>
          <a:p>
            <a:pPr indent="0" marL="0">
              <a:lnSpc>
                <a:spcPct val="130000"/>
              </a:lnSpc>
              <a:buNone/>
            </a:pPr>
            <a:r>
              <a:rPr lang="en-US" sz="1300" dirty="0">
                <a:solidFill>
                  <a:srgbClr val="DCEEE4"/>
                </a:solidFill>
                <a:latin typeface="Consolas" pitchFamily="34" charset="0"/>
                <a:ea typeface="Consolas" pitchFamily="34" charset="-122"/>
                <a:cs typeface="Consolas" pitchFamily="34" charset="-120"/>
              </a:rPr>
              <a:t>spot &gt; SMA50 &gt; SMA100</a:t>
            </a:r>
            <a:endParaRPr lang="en-US" sz="1300" dirty="0"/>
          </a:p>
          <a:p>
            <a:pPr indent="0" marL="0">
              <a:lnSpc>
                <a:spcPct val="130000"/>
              </a:lnSpc>
              <a:buNone/>
            </a:pPr>
            <a:r>
              <a:rPr lang="en-US" sz="1300" dirty="0">
                <a:solidFill>
                  <a:srgbClr val="DCEEE4"/>
                </a:solidFill>
                <a:latin typeface="Consolas" pitchFamily="34" charset="0"/>
                <a:ea typeface="Consolas" pitchFamily="34" charset="-122"/>
                <a:cs typeface="Consolas" pitchFamily="34" charset="-120"/>
              </a:rPr>
              <a:t>  → bullish (score 0.8)</a:t>
            </a:r>
            <a:endParaRPr lang="en-US" sz="1300" dirty="0"/>
          </a:p>
          <a:p>
            <a:pPr indent="0" marL="0">
              <a:lnSpc>
                <a:spcPct val="130000"/>
              </a:lnSpc>
              <a:buNone/>
            </a:pPr>
            <a:endParaRPr lang="en-US" sz="1300" dirty="0"/>
          </a:p>
          <a:p>
            <a:pPr indent="0" marL="0">
              <a:lnSpc>
                <a:spcPct val="130000"/>
              </a:lnSpc>
              <a:buNone/>
            </a:pPr>
            <a:r>
              <a:rPr lang="en-US" sz="1300" dirty="0">
                <a:solidFill>
                  <a:srgbClr val="DCEEE4"/>
                </a:solidFill>
                <a:latin typeface="Consolas" pitchFamily="34" charset="0"/>
                <a:ea typeface="Consolas" pitchFamily="34" charset="-122"/>
                <a:cs typeface="Consolas" pitchFamily="34" charset="-120"/>
              </a:rPr>
              <a:t>spot &lt; SMA50 &lt; SMA100</a:t>
            </a:r>
            <a:endParaRPr lang="en-US" sz="1300" dirty="0"/>
          </a:p>
          <a:p>
            <a:pPr indent="0" marL="0">
              <a:lnSpc>
                <a:spcPct val="130000"/>
              </a:lnSpc>
              <a:buNone/>
            </a:pPr>
            <a:r>
              <a:rPr lang="en-US" sz="1300" dirty="0">
                <a:solidFill>
                  <a:srgbClr val="DCEEE4"/>
                </a:solidFill>
                <a:latin typeface="Consolas" pitchFamily="34" charset="0"/>
                <a:ea typeface="Consolas" pitchFamily="34" charset="-122"/>
                <a:cs typeface="Consolas" pitchFamily="34" charset="-120"/>
              </a:rPr>
              <a:t>  → bearish (score 0.2)</a:t>
            </a:r>
            <a:endParaRPr lang="en-US" sz="1300" dirty="0"/>
          </a:p>
          <a:p>
            <a:pPr indent="0" marL="0">
              <a:lnSpc>
                <a:spcPct val="130000"/>
              </a:lnSpc>
              <a:buNone/>
            </a:pPr>
            <a:endParaRPr lang="en-US" sz="1300" dirty="0"/>
          </a:p>
          <a:p>
            <a:pPr indent="0" marL="0">
              <a:lnSpc>
                <a:spcPct val="130000"/>
              </a:lnSpc>
              <a:buNone/>
            </a:pPr>
            <a:r>
              <a:rPr lang="en-US" sz="1300" dirty="0">
                <a:solidFill>
                  <a:srgbClr val="DCEEE4"/>
                </a:solidFill>
                <a:latin typeface="Consolas" pitchFamily="34" charset="0"/>
                <a:ea typeface="Consolas" pitchFamily="34" charset="-122"/>
                <a:cs typeface="Consolas" pitchFamily="34" charset="-120"/>
              </a:rPr>
              <a:t>otherwise → neutral (0.5)</a:t>
            </a:r>
            <a:endParaRPr lang="en-US" sz="1300" dirty="0"/>
          </a:p>
        </p:txBody>
      </p:sp>
      <p:sp>
        <p:nvSpPr>
          <p:cNvPr id="15" name="Shape 13"/>
          <p:cNvSpPr/>
          <p:nvPr/>
        </p:nvSpPr>
        <p:spPr>
          <a:xfrm>
            <a:off x="6172200" y="3886200"/>
            <a:ext cx="5349240" cy="2194560"/>
          </a:xfrm>
          <a:prstGeom prst="roundRect">
            <a:avLst>
              <a:gd name="adj" fmla="val 2500"/>
            </a:avLst>
          </a:prstGeom>
          <a:solidFill>
            <a:srgbClr val="FFFFFF"/>
          </a:solidFill>
          <a:ln w="12700">
            <a:solidFill>
              <a:srgbClr val="E4DDD0"/>
            </a:solidFill>
            <a:prstDash val="solid"/>
          </a:ln>
          <a:effectLst>
            <a:outerShdw sx="100000" sy="100000" kx="0" ky="0" algn="bl" rotWithShape="0" blurRad="76200" dist="38100" dir="8100000">
              <a:srgbClr val="000000">
                <a:alpha val="12000"/>
              </a:srgbClr>
            </a:outerShdw>
          </a:effectLst>
        </p:spPr>
      </p:sp>
      <p:sp>
        <p:nvSpPr>
          <p:cNvPr id="16" name="Text 14"/>
          <p:cNvSpPr/>
          <p:nvPr/>
        </p:nvSpPr>
        <p:spPr>
          <a:xfrm>
            <a:off x="6446520" y="4041648"/>
            <a:ext cx="4754880" cy="274320"/>
          </a:xfrm>
          <a:prstGeom prst="rect">
            <a:avLst/>
          </a:prstGeom>
          <a:noFill/>
          <a:ln/>
        </p:spPr>
        <p:txBody>
          <a:bodyPr wrap="square" rtlCol="0" anchor="ctr"/>
          <a:lstStyle/>
          <a:p>
            <a:pPr indent="0" marL="0">
              <a:buNone/>
            </a:pPr>
            <a:r>
              <a:rPr lang="en-US" sz="1000" b="1" spc="100" kern="0" dirty="0">
                <a:solidFill>
                  <a:srgbClr val="1F6B4A"/>
                </a:solidFill>
                <a:latin typeface="Consolas" pitchFamily="34" charset="0"/>
                <a:ea typeface="Consolas" pitchFamily="34" charset="-122"/>
                <a:cs typeface="Consolas" pitchFamily="34" charset="-120"/>
              </a:rPr>
              <a:t>WHY THIS ROLE</a:t>
            </a:r>
            <a:endParaRPr lang="en-US" sz="1000" dirty="0"/>
          </a:p>
        </p:txBody>
      </p:sp>
      <p:sp>
        <p:nvSpPr>
          <p:cNvPr id="17" name="Text 15"/>
          <p:cNvSpPr/>
          <p:nvPr/>
        </p:nvSpPr>
        <p:spPr>
          <a:xfrm>
            <a:off x="6446520" y="4343400"/>
            <a:ext cx="4846320" cy="1600200"/>
          </a:xfrm>
          <a:prstGeom prst="rect">
            <a:avLst/>
          </a:prstGeom>
          <a:noFill/>
          <a:ln/>
        </p:spPr>
        <p:txBody>
          <a:bodyPr wrap="square" rtlCol="0" anchor="t"/>
          <a:lstStyle/>
          <a:p>
            <a:pPr indent="0" marL="0">
              <a:lnSpc>
                <a:spcPct val="120000"/>
              </a:lnSpc>
              <a:buNone/>
            </a:pPr>
            <a:r>
              <a:rPr lang="en-US" sz="1300" dirty="0">
                <a:solidFill>
                  <a:srgbClr val="1C2620"/>
                </a:solidFill>
                <a:latin typeface="Calibri" pitchFamily="34" charset="0"/>
                <a:ea typeface="Calibri" pitchFamily="34" charset="-122"/>
                <a:cs typeface="Calibri" pitchFamily="34" charset="-120"/>
              </a:rPr>
              <a:t>DRIVES the pick because direction is the first fork in the decision tree. But on its own it's not enough — a stack can look bullish while the stock merely drifts. That's why ADX (next) is paired with it.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1E8"/>
        </a:solidFill>
      </p:bgPr>
    </p:bg>
    <p:spTree>
      <p:nvGrpSpPr>
        <p:cNvPr id="1" name=""/>
        <p:cNvGrpSpPr/>
        <p:nvPr/>
      </p:nvGrpSpPr>
      <p:grpSpPr>
        <a:xfrm>
          <a:off x="0" y="0"/>
          <a:ext cx="0" cy="0"/>
          <a:chOff x="0" y="0"/>
          <a:chExt cx="0" cy="0"/>
        </a:xfrm>
      </p:grpSpPr>
      <p:sp>
        <p:nvSpPr>
          <p:cNvPr id="2" name="Text 0"/>
          <p:cNvSpPr/>
          <p:nvPr/>
        </p:nvSpPr>
        <p:spPr>
          <a:xfrm>
            <a:off x="640080" y="411480"/>
            <a:ext cx="10515600" cy="274320"/>
          </a:xfrm>
          <a:prstGeom prst="rect">
            <a:avLst/>
          </a:prstGeom>
          <a:noFill/>
          <a:ln/>
        </p:spPr>
        <p:txBody>
          <a:bodyPr wrap="square" rtlCol="0" anchor="ctr"/>
          <a:lstStyle/>
          <a:p>
            <a:pPr indent="0" marL="0">
              <a:buNone/>
            </a:pPr>
            <a:r>
              <a:rPr lang="en-US" sz="1100" b="1" spc="300" kern="0" dirty="0">
                <a:solidFill>
                  <a:srgbClr val="2D6A8A"/>
                </a:solidFill>
                <a:latin typeface="Consolas" pitchFamily="34" charset="0"/>
                <a:ea typeface="Consolas" pitchFamily="34" charset="-122"/>
                <a:cs typeface="Consolas" pitchFamily="34" charset="-120"/>
              </a:rPr>
              <a:t>INDICATOR 2 OF 10 · STRENGTH</a:t>
            </a:r>
            <a:endParaRPr lang="en-US" sz="1100" dirty="0"/>
          </a:p>
        </p:txBody>
      </p:sp>
      <p:sp>
        <p:nvSpPr>
          <p:cNvPr id="3" name="Text 1"/>
          <p:cNvSpPr/>
          <p:nvPr/>
        </p:nvSpPr>
        <p:spPr>
          <a:xfrm>
            <a:off x="640080" y="694944"/>
            <a:ext cx="11064240" cy="640080"/>
          </a:xfrm>
          <a:prstGeom prst="rect">
            <a:avLst/>
          </a:prstGeom>
          <a:noFill/>
          <a:ln/>
        </p:spPr>
        <p:txBody>
          <a:bodyPr wrap="square" rtlCol="0" anchor="ctr"/>
          <a:lstStyle/>
          <a:p>
            <a:pPr indent="0" marL="0">
              <a:buNone/>
            </a:pPr>
            <a:r>
              <a:rPr lang="en-US" sz="2700" b="1" dirty="0">
                <a:solidFill>
                  <a:srgbClr val="1C2620"/>
                </a:solidFill>
                <a:latin typeface="Georgia" pitchFamily="34" charset="0"/>
                <a:ea typeface="Georgia" pitchFamily="34" charset="-122"/>
                <a:cs typeface="Georgia" pitchFamily="34" charset="-120"/>
              </a:rPr>
              <a:t>ADX (14)</a:t>
            </a:r>
            <a:endParaRPr lang="en-US" sz="2700" dirty="0"/>
          </a:p>
        </p:txBody>
      </p:sp>
      <p:sp>
        <p:nvSpPr>
          <p:cNvPr id="4" name="Shape 2"/>
          <p:cNvSpPr/>
          <p:nvPr/>
        </p:nvSpPr>
        <p:spPr>
          <a:xfrm>
            <a:off x="9052560" y="749808"/>
            <a:ext cx="1971446" cy="384048"/>
          </a:xfrm>
          <a:prstGeom prst="roundRect">
            <a:avLst>
              <a:gd name="adj" fmla="val 50000"/>
            </a:avLst>
          </a:prstGeom>
          <a:solidFill>
            <a:srgbClr val="2D6A8A"/>
          </a:solidFill>
          <a:ln/>
        </p:spPr>
      </p:sp>
      <p:sp>
        <p:nvSpPr>
          <p:cNvPr id="5" name="Text 3"/>
          <p:cNvSpPr/>
          <p:nvPr/>
        </p:nvSpPr>
        <p:spPr>
          <a:xfrm>
            <a:off x="9052560" y="749808"/>
            <a:ext cx="1971446" cy="384048"/>
          </a:xfrm>
          <a:prstGeom prst="rect">
            <a:avLst/>
          </a:prstGeom>
          <a:noFill/>
          <a:ln/>
        </p:spPr>
        <p:txBody>
          <a:bodyPr wrap="square" rtlCol="0" anchor="ctr"/>
          <a:lstStyle/>
          <a:p>
            <a:pPr algn="ctr" indent="0" marL="0">
              <a:buNone/>
            </a:pPr>
            <a:r>
              <a:rPr lang="en-US" sz="1100" b="1" spc="100" kern="0" dirty="0">
                <a:solidFill>
                  <a:srgbClr val="FFFFFF"/>
                </a:solidFill>
                <a:latin typeface="Consolas" pitchFamily="34" charset="0"/>
                <a:ea typeface="Consolas" pitchFamily="34" charset="-122"/>
                <a:cs typeface="Consolas" pitchFamily="34" charset="-120"/>
              </a:rPr>
              <a:t>DRIVES + MODULATES</a:t>
            </a:r>
            <a:endParaRPr lang="en-US" sz="1100" dirty="0"/>
          </a:p>
        </p:txBody>
      </p:sp>
      <p:sp>
        <p:nvSpPr>
          <p:cNvPr id="6" name="Text 4"/>
          <p:cNvSpPr/>
          <p:nvPr/>
        </p:nvSpPr>
        <p:spPr>
          <a:xfrm>
            <a:off x="640080" y="1417320"/>
            <a:ext cx="10789920" cy="457200"/>
          </a:xfrm>
          <a:prstGeom prst="rect">
            <a:avLst/>
          </a:prstGeom>
          <a:noFill/>
          <a:ln/>
        </p:spPr>
        <p:txBody>
          <a:bodyPr wrap="square" rtlCol="0" anchor="ctr"/>
          <a:lstStyle/>
          <a:p>
            <a:pPr indent="0" marL="0">
              <a:buNone/>
            </a:pPr>
            <a:r>
              <a:rPr lang="en-US" sz="1500" i="1" dirty="0">
                <a:solidFill>
                  <a:srgbClr val="1C2620"/>
                </a:solidFill>
                <a:latin typeface="Calibri" pitchFamily="34" charset="0"/>
                <a:ea typeface="Calibri" pitchFamily="34" charset="-122"/>
                <a:cs typeface="Calibri" pitchFamily="34" charset="-120"/>
              </a:rPr>
              <a:t>Trend STRENGTH — is the move committed, or just drifting?</a:t>
            </a:r>
            <a:endParaRPr lang="en-US" sz="1500" dirty="0"/>
          </a:p>
        </p:txBody>
      </p:sp>
      <p:sp>
        <p:nvSpPr>
          <p:cNvPr id="7" name="Shape 5"/>
          <p:cNvSpPr/>
          <p:nvPr/>
        </p:nvSpPr>
        <p:spPr>
          <a:xfrm>
            <a:off x="640080" y="1965960"/>
            <a:ext cx="5349240" cy="4114800"/>
          </a:xfrm>
          <a:prstGeom prst="roundRect">
            <a:avLst>
              <a:gd name="adj" fmla="val 1333"/>
            </a:avLst>
          </a:prstGeom>
          <a:solidFill>
            <a:srgbClr val="FFFFFF"/>
          </a:solidFill>
          <a:ln w="12700">
            <a:solidFill>
              <a:srgbClr val="E4DDD0"/>
            </a:solidFill>
            <a:prstDash val="solid"/>
          </a:ln>
          <a:effectLst>
            <a:outerShdw sx="100000" sy="100000" kx="0" ky="0" algn="bl" rotWithShape="0" blurRad="76200" dist="38100" dir="8100000">
              <a:srgbClr val="000000">
                <a:alpha val="12000"/>
              </a:srgbClr>
            </a:outerShdw>
          </a:effectLst>
        </p:spPr>
      </p:sp>
      <p:sp>
        <p:nvSpPr>
          <p:cNvPr id="8" name="Text 6"/>
          <p:cNvSpPr/>
          <p:nvPr/>
        </p:nvSpPr>
        <p:spPr>
          <a:xfrm>
            <a:off x="914400" y="2121408"/>
            <a:ext cx="4754880" cy="274320"/>
          </a:xfrm>
          <a:prstGeom prst="rect">
            <a:avLst/>
          </a:prstGeom>
          <a:noFill/>
          <a:ln/>
        </p:spPr>
        <p:txBody>
          <a:bodyPr wrap="square" rtlCol="0" anchor="ctr"/>
          <a:lstStyle/>
          <a:p>
            <a:pPr indent="0" marL="0">
              <a:buNone/>
            </a:pPr>
            <a:r>
              <a:rPr lang="en-US" sz="1000" b="1" spc="100" kern="0" dirty="0">
                <a:solidFill>
                  <a:srgbClr val="2D6A8A"/>
                </a:solidFill>
                <a:latin typeface="Consolas" pitchFamily="34" charset="0"/>
                <a:ea typeface="Consolas" pitchFamily="34" charset="-122"/>
                <a:cs typeface="Consolas" pitchFamily="34" charset="-120"/>
              </a:rPr>
              <a:t>WHAT IT MEASURES</a:t>
            </a:r>
            <a:endParaRPr lang="en-US" sz="1000" dirty="0"/>
          </a:p>
        </p:txBody>
      </p:sp>
      <p:sp>
        <p:nvSpPr>
          <p:cNvPr id="9" name="Text 7"/>
          <p:cNvSpPr/>
          <p:nvPr/>
        </p:nvSpPr>
        <p:spPr>
          <a:xfrm>
            <a:off x="914400" y="2423160"/>
            <a:ext cx="4846320" cy="1143000"/>
          </a:xfrm>
          <a:prstGeom prst="rect">
            <a:avLst/>
          </a:prstGeom>
          <a:noFill/>
          <a:ln/>
        </p:spPr>
        <p:txBody>
          <a:bodyPr wrap="square" rtlCol="0" anchor="t"/>
          <a:lstStyle/>
          <a:p>
            <a:pPr indent="0" marL="0">
              <a:lnSpc>
                <a:spcPct val="120000"/>
              </a:lnSpc>
              <a:buNone/>
            </a:pPr>
            <a:r>
              <a:rPr lang="en-US" sz="1350" dirty="0">
                <a:solidFill>
                  <a:srgbClr val="1C2620"/>
                </a:solidFill>
                <a:latin typeface="Calibri" pitchFamily="34" charset="0"/>
                <a:ea typeface="Calibri" pitchFamily="34" charset="-122"/>
                <a:cs typeface="Calibri" pitchFamily="34" charset="-120"/>
              </a:rPr>
              <a:t>The Average Directional Index measures how strong a trend is, independent of its direction. High ADX = a real, sustained move; low ADX = chop or drift.</a:t>
            </a:r>
            <a:endParaRPr lang="en-US" sz="1350" dirty="0"/>
          </a:p>
        </p:txBody>
      </p:sp>
      <p:sp>
        <p:nvSpPr>
          <p:cNvPr id="10" name="Text 8"/>
          <p:cNvSpPr/>
          <p:nvPr/>
        </p:nvSpPr>
        <p:spPr>
          <a:xfrm>
            <a:off x="914400" y="3611880"/>
            <a:ext cx="4754880" cy="274320"/>
          </a:xfrm>
          <a:prstGeom prst="rect">
            <a:avLst/>
          </a:prstGeom>
          <a:noFill/>
          <a:ln/>
        </p:spPr>
        <p:txBody>
          <a:bodyPr wrap="square" rtlCol="0" anchor="ctr"/>
          <a:lstStyle/>
          <a:p>
            <a:pPr indent="0" marL="0">
              <a:buNone/>
            </a:pPr>
            <a:r>
              <a:rPr lang="en-US" sz="1000" b="1" spc="100" kern="0" dirty="0">
                <a:solidFill>
                  <a:srgbClr val="2D6A8A"/>
                </a:solidFill>
                <a:latin typeface="Consolas" pitchFamily="34" charset="0"/>
                <a:ea typeface="Consolas" pitchFamily="34" charset="-122"/>
                <a:cs typeface="Consolas" pitchFamily="34" charset="-120"/>
              </a:rPr>
              <a:t>HOW IT'S COMPUTED</a:t>
            </a:r>
            <a:endParaRPr lang="en-US" sz="1000" dirty="0"/>
          </a:p>
        </p:txBody>
      </p:sp>
      <p:sp>
        <p:nvSpPr>
          <p:cNvPr id="11" name="Text 9"/>
          <p:cNvSpPr/>
          <p:nvPr/>
        </p:nvSpPr>
        <p:spPr>
          <a:xfrm>
            <a:off x="914400" y="3913632"/>
            <a:ext cx="4846320" cy="2011680"/>
          </a:xfrm>
          <a:prstGeom prst="rect">
            <a:avLst/>
          </a:prstGeom>
          <a:noFill/>
          <a:ln/>
        </p:spPr>
        <p:txBody>
          <a:bodyPr wrap="square" rtlCol="0" anchor="t"/>
          <a:lstStyle/>
          <a:p>
            <a:pPr indent="0" marL="0">
              <a:lnSpc>
                <a:spcPct val="120000"/>
              </a:lnSpc>
              <a:buNone/>
            </a:pPr>
            <a:r>
              <a:rPr lang="en-US" sz="1300" dirty="0">
                <a:solidFill>
                  <a:srgbClr val="1C2620"/>
                </a:solidFill>
                <a:latin typeface="Calibri" pitchFamily="34" charset="0"/>
                <a:ea typeface="Calibri" pitchFamily="34" charset="-122"/>
                <a:cs typeface="Calibri" pitchFamily="34" charset="-120"/>
              </a:rPr>
              <a:t>Standard Wilder ADX over a 14-day period (ported from the same implementation the discover API uses). Needs ~29 bars of history.</a:t>
            </a:r>
            <a:endParaRPr lang="en-US" sz="1300" dirty="0"/>
          </a:p>
        </p:txBody>
      </p:sp>
      <p:sp>
        <p:nvSpPr>
          <p:cNvPr id="12" name="Shape 10"/>
          <p:cNvSpPr/>
          <p:nvPr/>
        </p:nvSpPr>
        <p:spPr>
          <a:xfrm>
            <a:off x="6172200" y="1965960"/>
            <a:ext cx="5349240" cy="1783080"/>
          </a:xfrm>
          <a:prstGeom prst="roundRect">
            <a:avLst>
              <a:gd name="adj" fmla="val 3077"/>
            </a:avLst>
          </a:prstGeom>
          <a:solidFill>
            <a:srgbClr val="0F2A1F"/>
          </a:solidFill>
          <a:ln/>
        </p:spPr>
      </p:sp>
      <p:sp>
        <p:nvSpPr>
          <p:cNvPr id="13" name="Text 11"/>
          <p:cNvSpPr/>
          <p:nvPr/>
        </p:nvSpPr>
        <p:spPr>
          <a:xfrm>
            <a:off x="6446520" y="2121408"/>
            <a:ext cx="4754880" cy="274320"/>
          </a:xfrm>
          <a:prstGeom prst="rect">
            <a:avLst/>
          </a:prstGeom>
          <a:noFill/>
          <a:ln/>
        </p:spPr>
        <p:txBody>
          <a:bodyPr wrap="square" rtlCol="0" anchor="ctr"/>
          <a:lstStyle/>
          <a:p>
            <a:pPr indent="0" marL="0">
              <a:buNone/>
            </a:pPr>
            <a:r>
              <a:rPr lang="en-US" sz="1000" b="1" spc="100" kern="0" dirty="0">
                <a:solidFill>
                  <a:srgbClr val="CAA12F"/>
                </a:solidFill>
                <a:latin typeface="Consolas" pitchFamily="34" charset="0"/>
                <a:ea typeface="Consolas" pitchFamily="34" charset="-122"/>
                <a:cs typeface="Consolas" pitchFamily="34" charset="-120"/>
              </a:rPr>
              <a:t>THRESHOLDS / VALUES</a:t>
            </a:r>
            <a:endParaRPr lang="en-US" sz="1000" dirty="0"/>
          </a:p>
        </p:txBody>
      </p:sp>
      <p:sp>
        <p:nvSpPr>
          <p:cNvPr id="14" name="Text 12"/>
          <p:cNvSpPr/>
          <p:nvPr/>
        </p:nvSpPr>
        <p:spPr>
          <a:xfrm>
            <a:off x="6446520" y="2423160"/>
            <a:ext cx="4846320" cy="1234440"/>
          </a:xfrm>
          <a:prstGeom prst="rect">
            <a:avLst/>
          </a:prstGeom>
          <a:noFill/>
          <a:ln/>
        </p:spPr>
        <p:txBody>
          <a:bodyPr wrap="square" rtlCol="0" anchor="t"/>
          <a:lstStyle/>
          <a:p>
            <a:pPr indent="0" marL="0">
              <a:lnSpc>
                <a:spcPct val="130000"/>
              </a:lnSpc>
              <a:buNone/>
            </a:pPr>
            <a:r>
              <a:rPr lang="en-US" sz="1300" dirty="0">
                <a:solidFill>
                  <a:srgbClr val="DCEEE4"/>
                </a:solidFill>
                <a:latin typeface="Consolas" pitchFamily="34" charset="0"/>
                <a:ea typeface="Consolas" pitchFamily="34" charset="-122"/>
                <a:cs typeface="Consolas" pitchFamily="34" charset="-120"/>
              </a:rPr>
              <a:t>ADX &gt; 30   → strong</a:t>
            </a:r>
            <a:endParaRPr lang="en-US" sz="1300" dirty="0"/>
          </a:p>
          <a:p>
            <a:pPr indent="0" marL="0">
              <a:lnSpc>
                <a:spcPct val="130000"/>
              </a:lnSpc>
              <a:buNone/>
            </a:pPr>
            <a:r>
              <a:rPr lang="en-US" sz="1300" dirty="0">
                <a:solidFill>
                  <a:srgbClr val="DCEEE4"/>
                </a:solidFill>
                <a:latin typeface="Consolas" pitchFamily="34" charset="0"/>
                <a:ea typeface="Consolas" pitchFamily="34" charset="-122"/>
                <a:cs typeface="Consolas" pitchFamily="34" charset="-120"/>
              </a:rPr>
              <a:t>ADX 20–30 → moderate</a:t>
            </a:r>
            <a:endParaRPr lang="en-US" sz="1300" dirty="0"/>
          </a:p>
          <a:p>
            <a:pPr indent="0" marL="0">
              <a:lnSpc>
                <a:spcPct val="130000"/>
              </a:lnSpc>
              <a:buNone/>
            </a:pPr>
            <a:r>
              <a:rPr lang="en-US" sz="1300" dirty="0">
                <a:solidFill>
                  <a:srgbClr val="DCEEE4"/>
                </a:solidFill>
                <a:latin typeface="Consolas" pitchFamily="34" charset="0"/>
                <a:ea typeface="Consolas" pitchFamily="34" charset="-122"/>
                <a:cs typeface="Consolas" pitchFamily="34" charset="-120"/>
              </a:rPr>
              <a:t>ADX &lt; 20  → weak</a:t>
            </a:r>
            <a:endParaRPr lang="en-US" sz="1300" dirty="0"/>
          </a:p>
          <a:p>
            <a:pPr indent="0" marL="0">
              <a:lnSpc>
                <a:spcPct val="130000"/>
              </a:lnSpc>
              <a:buNone/>
            </a:pPr>
            <a:endParaRPr lang="en-US" sz="1300" dirty="0"/>
          </a:p>
          <a:p>
            <a:pPr indent="0" marL="0">
              <a:lnSpc>
                <a:spcPct val="130000"/>
              </a:lnSpc>
              <a:buNone/>
            </a:pPr>
            <a:r>
              <a:rPr lang="en-US" sz="1300" dirty="0">
                <a:solidFill>
                  <a:srgbClr val="DCEEE4"/>
                </a:solidFill>
                <a:latin typeface="Consolas" pitchFamily="34" charset="0"/>
                <a:ea typeface="Consolas" pitchFamily="34" charset="-122"/>
                <a:cs typeface="Consolas" pitchFamily="34" charset="-120"/>
              </a:rPr>
              <a:t>(null → treated as moderate)</a:t>
            </a:r>
            <a:endParaRPr lang="en-US" sz="1300" dirty="0"/>
          </a:p>
        </p:txBody>
      </p:sp>
      <p:sp>
        <p:nvSpPr>
          <p:cNvPr id="15" name="Shape 13"/>
          <p:cNvSpPr/>
          <p:nvPr/>
        </p:nvSpPr>
        <p:spPr>
          <a:xfrm>
            <a:off x="6172200" y="3886200"/>
            <a:ext cx="5349240" cy="2194560"/>
          </a:xfrm>
          <a:prstGeom prst="roundRect">
            <a:avLst>
              <a:gd name="adj" fmla="val 2500"/>
            </a:avLst>
          </a:prstGeom>
          <a:solidFill>
            <a:srgbClr val="FFFFFF"/>
          </a:solidFill>
          <a:ln w="12700">
            <a:solidFill>
              <a:srgbClr val="E4DDD0"/>
            </a:solidFill>
            <a:prstDash val="solid"/>
          </a:ln>
          <a:effectLst>
            <a:outerShdw sx="100000" sy="100000" kx="0" ky="0" algn="bl" rotWithShape="0" blurRad="76200" dist="38100" dir="8100000">
              <a:srgbClr val="000000">
                <a:alpha val="12000"/>
              </a:srgbClr>
            </a:outerShdw>
          </a:effectLst>
        </p:spPr>
      </p:sp>
      <p:sp>
        <p:nvSpPr>
          <p:cNvPr id="16" name="Text 14"/>
          <p:cNvSpPr/>
          <p:nvPr/>
        </p:nvSpPr>
        <p:spPr>
          <a:xfrm>
            <a:off x="6446520" y="4041648"/>
            <a:ext cx="4754880" cy="274320"/>
          </a:xfrm>
          <a:prstGeom prst="rect">
            <a:avLst/>
          </a:prstGeom>
          <a:noFill/>
          <a:ln/>
        </p:spPr>
        <p:txBody>
          <a:bodyPr wrap="square" rtlCol="0" anchor="ctr"/>
          <a:lstStyle/>
          <a:p>
            <a:pPr indent="0" marL="0">
              <a:buNone/>
            </a:pPr>
            <a:r>
              <a:rPr lang="en-US" sz="1000" b="1" spc="100" kern="0" dirty="0">
                <a:solidFill>
                  <a:srgbClr val="2D6A8A"/>
                </a:solidFill>
                <a:latin typeface="Consolas" pitchFamily="34" charset="0"/>
                <a:ea typeface="Consolas" pitchFamily="34" charset="-122"/>
                <a:cs typeface="Consolas" pitchFamily="34" charset="-120"/>
              </a:rPr>
              <a:t>WHY THIS ROLE</a:t>
            </a:r>
            <a:endParaRPr lang="en-US" sz="1000" dirty="0"/>
          </a:p>
        </p:txBody>
      </p:sp>
      <p:sp>
        <p:nvSpPr>
          <p:cNvPr id="17" name="Text 15"/>
          <p:cNvSpPr/>
          <p:nvPr/>
        </p:nvSpPr>
        <p:spPr>
          <a:xfrm>
            <a:off x="6446520" y="4343400"/>
            <a:ext cx="4846320" cy="1600200"/>
          </a:xfrm>
          <a:prstGeom prst="rect">
            <a:avLst/>
          </a:prstGeom>
          <a:noFill/>
          <a:ln/>
        </p:spPr>
        <p:txBody>
          <a:bodyPr wrap="square" rtlCol="0" anchor="t"/>
          <a:lstStyle/>
          <a:p>
            <a:pPr indent="0" marL="0">
              <a:lnSpc>
                <a:spcPct val="120000"/>
              </a:lnSpc>
              <a:buNone/>
            </a:pPr>
            <a:r>
              <a:rPr lang="en-US" sz="1300" dirty="0">
                <a:solidFill>
                  <a:srgbClr val="1C2620"/>
                </a:solidFill>
                <a:latin typeface="Calibri" pitchFamily="34" charset="0"/>
                <a:ea typeface="Calibri" pitchFamily="34" charset="-122"/>
                <a:cs typeface="Calibri" pitchFamily="34" charset="-120"/>
              </a:rPr>
              <a:t>DRIVES + MODULATES — the only indicator with two jobs. It GATES directional trades (a weak-ADX trend is blocked) AND scales the trend pillar in the score (strong ×1.0 / moderate ×0.7 / weak ×0.3). It's the signal that stops us trading fake trends.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1E8"/>
        </a:solidFill>
      </p:bgPr>
    </p:bg>
    <p:spTree>
      <p:nvGrpSpPr>
        <p:cNvPr id="1" name=""/>
        <p:cNvGrpSpPr/>
        <p:nvPr/>
      </p:nvGrpSpPr>
      <p:grpSpPr>
        <a:xfrm>
          <a:off x="0" y="0"/>
          <a:ext cx="0" cy="0"/>
          <a:chOff x="0" y="0"/>
          <a:chExt cx="0" cy="0"/>
        </a:xfrm>
      </p:grpSpPr>
      <p:sp>
        <p:nvSpPr>
          <p:cNvPr id="2" name="Text 0"/>
          <p:cNvSpPr/>
          <p:nvPr/>
        </p:nvSpPr>
        <p:spPr>
          <a:xfrm>
            <a:off x="640080" y="411480"/>
            <a:ext cx="10515600" cy="274320"/>
          </a:xfrm>
          <a:prstGeom prst="rect">
            <a:avLst/>
          </a:prstGeom>
          <a:noFill/>
          <a:ln/>
        </p:spPr>
        <p:txBody>
          <a:bodyPr wrap="square" rtlCol="0" anchor="ctr"/>
          <a:lstStyle/>
          <a:p>
            <a:pPr indent="0" marL="0">
              <a:buNone/>
            </a:pPr>
            <a:r>
              <a:rPr lang="en-US" sz="1100" b="1" spc="300" kern="0" dirty="0">
                <a:solidFill>
                  <a:srgbClr val="1F6B4A"/>
                </a:solidFill>
                <a:latin typeface="Consolas" pitchFamily="34" charset="0"/>
                <a:ea typeface="Consolas" pitchFamily="34" charset="-122"/>
                <a:cs typeface="Consolas" pitchFamily="34" charset="-120"/>
              </a:rPr>
              <a:t>INDICATOR 3 OF 10 · VOLATILITY REGIME</a:t>
            </a:r>
            <a:endParaRPr lang="en-US" sz="1100" dirty="0"/>
          </a:p>
        </p:txBody>
      </p:sp>
      <p:sp>
        <p:nvSpPr>
          <p:cNvPr id="3" name="Text 1"/>
          <p:cNvSpPr/>
          <p:nvPr/>
        </p:nvSpPr>
        <p:spPr>
          <a:xfrm>
            <a:off x="640080" y="694944"/>
            <a:ext cx="11064240" cy="640080"/>
          </a:xfrm>
          <a:prstGeom prst="rect">
            <a:avLst/>
          </a:prstGeom>
          <a:noFill/>
          <a:ln/>
        </p:spPr>
        <p:txBody>
          <a:bodyPr wrap="square" rtlCol="0" anchor="ctr"/>
          <a:lstStyle/>
          <a:p>
            <a:pPr indent="0" marL="0">
              <a:buNone/>
            </a:pPr>
            <a:r>
              <a:rPr lang="en-US" sz="2700" b="1" dirty="0">
                <a:solidFill>
                  <a:srgbClr val="1C2620"/>
                </a:solidFill>
                <a:latin typeface="Georgia" pitchFamily="34" charset="0"/>
                <a:ea typeface="Georgia" pitchFamily="34" charset="-122"/>
                <a:cs typeface="Georgia" pitchFamily="34" charset="-120"/>
              </a:rPr>
              <a:t>Bollinger Width</a:t>
            </a:r>
            <a:endParaRPr lang="en-US" sz="2700" dirty="0"/>
          </a:p>
        </p:txBody>
      </p:sp>
      <p:sp>
        <p:nvSpPr>
          <p:cNvPr id="4" name="Shape 2"/>
          <p:cNvSpPr/>
          <p:nvPr/>
        </p:nvSpPr>
        <p:spPr>
          <a:xfrm>
            <a:off x="9052560" y="749808"/>
            <a:ext cx="961949" cy="384048"/>
          </a:xfrm>
          <a:prstGeom prst="roundRect">
            <a:avLst>
              <a:gd name="adj" fmla="val 50000"/>
            </a:avLst>
          </a:prstGeom>
          <a:solidFill>
            <a:srgbClr val="1F6B4A"/>
          </a:solidFill>
          <a:ln/>
        </p:spPr>
      </p:sp>
      <p:sp>
        <p:nvSpPr>
          <p:cNvPr id="5" name="Text 3"/>
          <p:cNvSpPr/>
          <p:nvPr/>
        </p:nvSpPr>
        <p:spPr>
          <a:xfrm>
            <a:off x="9052560" y="749808"/>
            <a:ext cx="961949" cy="384048"/>
          </a:xfrm>
          <a:prstGeom prst="rect">
            <a:avLst/>
          </a:prstGeom>
          <a:noFill/>
          <a:ln/>
        </p:spPr>
        <p:txBody>
          <a:bodyPr wrap="square" rtlCol="0" anchor="ctr"/>
          <a:lstStyle/>
          <a:p>
            <a:pPr algn="ctr" indent="0" marL="0">
              <a:buNone/>
            </a:pPr>
            <a:r>
              <a:rPr lang="en-US" sz="1100" b="1" spc="100" kern="0" dirty="0">
                <a:solidFill>
                  <a:srgbClr val="FFFFFF"/>
                </a:solidFill>
                <a:latin typeface="Consolas" pitchFamily="34" charset="0"/>
                <a:ea typeface="Consolas" pitchFamily="34" charset="-122"/>
                <a:cs typeface="Consolas" pitchFamily="34" charset="-120"/>
              </a:rPr>
              <a:t>DRIVES</a:t>
            </a:r>
            <a:endParaRPr lang="en-US" sz="1100" dirty="0"/>
          </a:p>
        </p:txBody>
      </p:sp>
      <p:sp>
        <p:nvSpPr>
          <p:cNvPr id="6" name="Text 4"/>
          <p:cNvSpPr/>
          <p:nvPr/>
        </p:nvSpPr>
        <p:spPr>
          <a:xfrm>
            <a:off x="640080" y="1417320"/>
            <a:ext cx="10789920" cy="457200"/>
          </a:xfrm>
          <a:prstGeom prst="rect">
            <a:avLst/>
          </a:prstGeom>
          <a:noFill/>
          <a:ln/>
        </p:spPr>
        <p:txBody>
          <a:bodyPr wrap="square" rtlCol="0" anchor="ctr"/>
          <a:lstStyle/>
          <a:p>
            <a:pPr indent="0" marL="0">
              <a:buNone/>
            </a:pPr>
            <a:r>
              <a:rPr lang="en-US" sz="1500" i="1" dirty="0">
                <a:solidFill>
                  <a:srgbClr val="1C2620"/>
                </a:solidFill>
                <a:latin typeface="Calibri" pitchFamily="34" charset="0"/>
                <a:ea typeface="Calibri" pitchFamily="34" charset="-122"/>
                <a:cs typeface="Calibri" pitchFamily="34" charset="-120"/>
              </a:rPr>
              <a:t>Volatility regime — is the stock coiled tight or stretched wide?</a:t>
            </a:r>
            <a:endParaRPr lang="en-US" sz="1500" dirty="0"/>
          </a:p>
        </p:txBody>
      </p:sp>
      <p:sp>
        <p:nvSpPr>
          <p:cNvPr id="7" name="Shape 5"/>
          <p:cNvSpPr/>
          <p:nvPr/>
        </p:nvSpPr>
        <p:spPr>
          <a:xfrm>
            <a:off x="640080" y="1965960"/>
            <a:ext cx="5349240" cy="4114800"/>
          </a:xfrm>
          <a:prstGeom prst="roundRect">
            <a:avLst>
              <a:gd name="adj" fmla="val 1333"/>
            </a:avLst>
          </a:prstGeom>
          <a:solidFill>
            <a:srgbClr val="FFFFFF"/>
          </a:solidFill>
          <a:ln w="12700">
            <a:solidFill>
              <a:srgbClr val="E4DDD0"/>
            </a:solidFill>
            <a:prstDash val="solid"/>
          </a:ln>
          <a:effectLst>
            <a:outerShdw sx="100000" sy="100000" kx="0" ky="0" algn="bl" rotWithShape="0" blurRad="76200" dist="38100" dir="8100000">
              <a:srgbClr val="000000">
                <a:alpha val="12000"/>
              </a:srgbClr>
            </a:outerShdw>
          </a:effectLst>
        </p:spPr>
      </p:sp>
      <p:sp>
        <p:nvSpPr>
          <p:cNvPr id="8" name="Text 6"/>
          <p:cNvSpPr/>
          <p:nvPr/>
        </p:nvSpPr>
        <p:spPr>
          <a:xfrm>
            <a:off x="914400" y="2121408"/>
            <a:ext cx="4754880" cy="274320"/>
          </a:xfrm>
          <a:prstGeom prst="rect">
            <a:avLst/>
          </a:prstGeom>
          <a:noFill/>
          <a:ln/>
        </p:spPr>
        <p:txBody>
          <a:bodyPr wrap="square" rtlCol="0" anchor="ctr"/>
          <a:lstStyle/>
          <a:p>
            <a:pPr indent="0" marL="0">
              <a:buNone/>
            </a:pPr>
            <a:r>
              <a:rPr lang="en-US" sz="1000" b="1" spc="100" kern="0" dirty="0">
                <a:solidFill>
                  <a:srgbClr val="1F6B4A"/>
                </a:solidFill>
                <a:latin typeface="Consolas" pitchFamily="34" charset="0"/>
                <a:ea typeface="Consolas" pitchFamily="34" charset="-122"/>
                <a:cs typeface="Consolas" pitchFamily="34" charset="-120"/>
              </a:rPr>
              <a:t>WHAT IT MEASURES</a:t>
            </a:r>
            <a:endParaRPr lang="en-US" sz="1000" dirty="0"/>
          </a:p>
        </p:txBody>
      </p:sp>
      <p:sp>
        <p:nvSpPr>
          <p:cNvPr id="9" name="Text 7"/>
          <p:cNvSpPr/>
          <p:nvPr/>
        </p:nvSpPr>
        <p:spPr>
          <a:xfrm>
            <a:off x="914400" y="2423160"/>
            <a:ext cx="4846320" cy="1143000"/>
          </a:xfrm>
          <a:prstGeom prst="rect">
            <a:avLst/>
          </a:prstGeom>
          <a:noFill/>
          <a:ln/>
        </p:spPr>
        <p:txBody>
          <a:bodyPr wrap="square" rtlCol="0" anchor="t"/>
          <a:lstStyle/>
          <a:p>
            <a:pPr indent="0" marL="0">
              <a:lnSpc>
                <a:spcPct val="120000"/>
              </a:lnSpc>
              <a:buNone/>
            </a:pPr>
            <a:r>
              <a:rPr lang="en-US" sz="1350" dirty="0">
                <a:solidFill>
                  <a:srgbClr val="1C2620"/>
                </a:solidFill>
                <a:latin typeface="Calibri" pitchFamily="34" charset="0"/>
                <a:ea typeface="Calibri" pitchFamily="34" charset="-122"/>
                <a:cs typeface="Calibri" pitchFamily="34" charset="-120"/>
              </a:rPr>
              <a:t>How wide the Bollinger Bands are relative to price. Narrow = compressed/quiet (a 'squeeze'); wide = volatile/expanded.</a:t>
            </a:r>
            <a:endParaRPr lang="en-US" sz="1350" dirty="0"/>
          </a:p>
        </p:txBody>
      </p:sp>
      <p:sp>
        <p:nvSpPr>
          <p:cNvPr id="10" name="Text 8"/>
          <p:cNvSpPr/>
          <p:nvPr/>
        </p:nvSpPr>
        <p:spPr>
          <a:xfrm>
            <a:off x="914400" y="3611880"/>
            <a:ext cx="4754880" cy="274320"/>
          </a:xfrm>
          <a:prstGeom prst="rect">
            <a:avLst/>
          </a:prstGeom>
          <a:noFill/>
          <a:ln/>
        </p:spPr>
        <p:txBody>
          <a:bodyPr wrap="square" rtlCol="0" anchor="ctr"/>
          <a:lstStyle/>
          <a:p>
            <a:pPr indent="0" marL="0">
              <a:buNone/>
            </a:pPr>
            <a:r>
              <a:rPr lang="en-US" sz="1000" b="1" spc="100" kern="0" dirty="0">
                <a:solidFill>
                  <a:srgbClr val="1F6B4A"/>
                </a:solidFill>
                <a:latin typeface="Consolas" pitchFamily="34" charset="0"/>
                <a:ea typeface="Consolas" pitchFamily="34" charset="-122"/>
                <a:cs typeface="Consolas" pitchFamily="34" charset="-120"/>
              </a:rPr>
              <a:t>HOW IT'S COMPUTED</a:t>
            </a:r>
            <a:endParaRPr lang="en-US" sz="1000" dirty="0"/>
          </a:p>
        </p:txBody>
      </p:sp>
      <p:sp>
        <p:nvSpPr>
          <p:cNvPr id="11" name="Text 9"/>
          <p:cNvSpPr/>
          <p:nvPr/>
        </p:nvSpPr>
        <p:spPr>
          <a:xfrm>
            <a:off x="914400" y="3913632"/>
            <a:ext cx="4846320" cy="2011680"/>
          </a:xfrm>
          <a:prstGeom prst="rect">
            <a:avLst/>
          </a:prstGeom>
          <a:noFill/>
          <a:ln/>
        </p:spPr>
        <p:txBody>
          <a:bodyPr wrap="square" rtlCol="0" anchor="t"/>
          <a:lstStyle/>
          <a:p>
            <a:pPr indent="0" marL="0">
              <a:lnSpc>
                <a:spcPct val="120000"/>
              </a:lnSpc>
              <a:buNone/>
            </a:pPr>
            <a:r>
              <a:rPr lang="en-US" sz="1300" dirty="0">
                <a:solidFill>
                  <a:srgbClr val="1C2620"/>
                </a:solidFill>
                <a:latin typeface="Calibri" pitchFamily="34" charset="0"/>
                <a:ea typeface="Calibri" pitchFamily="34" charset="-122"/>
                <a:cs typeface="Calibri" pitchFamily="34" charset="-120"/>
              </a:rPr>
              <a:t>Bollinger Bands = a 20-day moving average ± 2 standard deviations. Width = (upper − lower) / middle, expressed as a percentage.</a:t>
            </a:r>
            <a:endParaRPr lang="en-US" sz="1300" dirty="0"/>
          </a:p>
        </p:txBody>
      </p:sp>
      <p:sp>
        <p:nvSpPr>
          <p:cNvPr id="12" name="Shape 10"/>
          <p:cNvSpPr/>
          <p:nvPr/>
        </p:nvSpPr>
        <p:spPr>
          <a:xfrm>
            <a:off x="6172200" y="1965960"/>
            <a:ext cx="5349240" cy="1783080"/>
          </a:xfrm>
          <a:prstGeom prst="roundRect">
            <a:avLst>
              <a:gd name="adj" fmla="val 3077"/>
            </a:avLst>
          </a:prstGeom>
          <a:solidFill>
            <a:srgbClr val="0F2A1F"/>
          </a:solidFill>
          <a:ln/>
        </p:spPr>
      </p:sp>
      <p:sp>
        <p:nvSpPr>
          <p:cNvPr id="13" name="Text 11"/>
          <p:cNvSpPr/>
          <p:nvPr/>
        </p:nvSpPr>
        <p:spPr>
          <a:xfrm>
            <a:off x="6446520" y="2121408"/>
            <a:ext cx="4754880" cy="274320"/>
          </a:xfrm>
          <a:prstGeom prst="rect">
            <a:avLst/>
          </a:prstGeom>
          <a:noFill/>
          <a:ln/>
        </p:spPr>
        <p:txBody>
          <a:bodyPr wrap="square" rtlCol="0" anchor="ctr"/>
          <a:lstStyle/>
          <a:p>
            <a:pPr indent="0" marL="0">
              <a:buNone/>
            </a:pPr>
            <a:r>
              <a:rPr lang="en-US" sz="1000" b="1" spc="100" kern="0" dirty="0">
                <a:solidFill>
                  <a:srgbClr val="CAA12F"/>
                </a:solidFill>
                <a:latin typeface="Consolas" pitchFamily="34" charset="0"/>
                <a:ea typeface="Consolas" pitchFamily="34" charset="-122"/>
                <a:cs typeface="Consolas" pitchFamily="34" charset="-120"/>
              </a:rPr>
              <a:t>THRESHOLDS / VALUES</a:t>
            </a:r>
            <a:endParaRPr lang="en-US" sz="1000" dirty="0"/>
          </a:p>
        </p:txBody>
      </p:sp>
      <p:sp>
        <p:nvSpPr>
          <p:cNvPr id="14" name="Text 12"/>
          <p:cNvSpPr/>
          <p:nvPr/>
        </p:nvSpPr>
        <p:spPr>
          <a:xfrm>
            <a:off x="6446520" y="2423160"/>
            <a:ext cx="4846320" cy="1234440"/>
          </a:xfrm>
          <a:prstGeom prst="rect">
            <a:avLst/>
          </a:prstGeom>
          <a:noFill/>
          <a:ln/>
        </p:spPr>
        <p:txBody>
          <a:bodyPr wrap="square" rtlCol="0" anchor="t"/>
          <a:lstStyle/>
          <a:p>
            <a:pPr indent="0" marL="0">
              <a:lnSpc>
                <a:spcPct val="130000"/>
              </a:lnSpc>
              <a:buNone/>
            </a:pPr>
            <a:r>
              <a:rPr lang="en-US" sz="1300" dirty="0">
                <a:solidFill>
                  <a:srgbClr val="DCEEE4"/>
                </a:solidFill>
                <a:latin typeface="Consolas" pitchFamily="34" charset="0"/>
                <a:ea typeface="Consolas" pitchFamily="34" charset="-122"/>
                <a:cs typeface="Consolas" pitchFamily="34" charset="-120"/>
              </a:rPr>
              <a:t>width &lt; 5%   → squeeze</a:t>
            </a:r>
            <a:endParaRPr lang="en-US" sz="1300" dirty="0"/>
          </a:p>
          <a:p>
            <a:pPr indent="0" marL="0">
              <a:lnSpc>
                <a:spcPct val="130000"/>
              </a:lnSpc>
              <a:buNone/>
            </a:pPr>
            <a:r>
              <a:rPr lang="en-US" sz="1300" dirty="0">
                <a:solidFill>
                  <a:srgbClr val="DCEEE4"/>
                </a:solidFill>
                <a:latin typeface="Consolas" pitchFamily="34" charset="0"/>
                <a:ea typeface="Consolas" pitchFamily="34" charset="-122"/>
                <a:cs typeface="Consolas" pitchFamily="34" charset="-120"/>
              </a:rPr>
              <a:t>width 5–15% → normal</a:t>
            </a:r>
            <a:endParaRPr lang="en-US" sz="1300" dirty="0"/>
          </a:p>
          <a:p>
            <a:pPr indent="0" marL="0">
              <a:lnSpc>
                <a:spcPct val="130000"/>
              </a:lnSpc>
              <a:buNone/>
            </a:pPr>
            <a:r>
              <a:rPr lang="en-US" sz="1300" dirty="0">
                <a:solidFill>
                  <a:srgbClr val="DCEEE4"/>
                </a:solidFill>
                <a:latin typeface="Consolas" pitchFamily="34" charset="0"/>
                <a:ea typeface="Consolas" pitchFamily="34" charset="-122"/>
                <a:cs typeface="Consolas" pitchFamily="34" charset="-120"/>
              </a:rPr>
              <a:t>width &gt; 15%  → expansion</a:t>
            </a:r>
            <a:endParaRPr lang="en-US" sz="1300" dirty="0"/>
          </a:p>
        </p:txBody>
      </p:sp>
      <p:sp>
        <p:nvSpPr>
          <p:cNvPr id="15" name="Shape 13"/>
          <p:cNvSpPr/>
          <p:nvPr/>
        </p:nvSpPr>
        <p:spPr>
          <a:xfrm>
            <a:off x="6172200" y="3886200"/>
            <a:ext cx="5349240" cy="2194560"/>
          </a:xfrm>
          <a:prstGeom prst="roundRect">
            <a:avLst>
              <a:gd name="adj" fmla="val 2500"/>
            </a:avLst>
          </a:prstGeom>
          <a:solidFill>
            <a:srgbClr val="FFFFFF"/>
          </a:solidFill>
          <a:ln w="12700">
            <a:solidFill>
              <a:srgbClr val="E4DDD0"/>
            </a:solidFill>
            <a:prstDash val="solid"/>
          </a:ln>
          <a:effectLst>
            <a:outerShdw sx="100000" sy="100000" kx="0" ky="0" algn="bl" rotWithShape="0" blurRad="76200" dist="38100" dir="8100000">
              <a:srgbClr val="000000">
                <a:alpha val="12000"/>
              </a:srgbClr>
            </a:outerShdw>
          </a:effectLst>
        </p:spPr>
      </p:sp>
      <p:sp>
        <p:nvSpPr>
          <p:cNvPr id="16" name="Text 14"/>
          <p:cNvSpPr/>
          <p:nvPr/>
        </p:nvSpPr>
        <p:spPr>
          <a:xfrm>
            <a:off x="6446520" y="4041648"/>
            <a:ext cx="4754880" cy="274320"/>
          </a:xfrm>
          <a:prstGeom prst="rect">
            <a:avLst/>
          </a:prstGeom>
          <a:noFill/>
          <a:ln/>
        </p:spPr>
        <p:txBody>
          <a:bodyPr wrap="square" rtlCol="0" anchor="ctr"/>
          <a:lstStyle/>
          <a:p>
            <a:pPr indent="0" marL="0">
              <a:buNone/>
            </a:pPr>
            <a:r>
              <a:rPr lang="en-US" sz="1000" b="1" spc="100" kern="0" dirty="0">
                <a:solidFill>
                  <a:srgbClr val="1F6B4A"/>
                </a:solidFill>
                <a:latin typeface="Consolas" pitchFamily="34" charset="0"/>
                <a:ea typeface="Consolas" pitchFamily="34" charset="-122"/>
                <a:cs typeface="Consolas" pitchFamily="34" charset="-120"/>
              </a:rPr>
              <a:t>WHY THIS ROLE</a:t>
            </a:r>
            <a:endParaRPr lang="en-US" sz="1000" dirty="0"/>
          </a:p>
        </p:txBody>
      </p:sp>
      <p:sp>
        <p:nvSpPr>
          <p:cNvPr id="17" name="Text 15"/>
          <p:cNvSpPr/>
          <p:nvPr/>
        </p:nvSpPr>
        <p:spPr>
          <a:xfrm>
            <a:off x="6446520" y="4343400"/>
            <a:ext cx="4846320" cy="1600200"/>
          </a:xfrm>
          <a:prstGeom prst="rect">
            <a:avLst/>
          </a:prstGeom>
          <a:noFill/>
          <a:ln/>
        </p:spPr>
        <p:txBody>
          <a:bodyPr wrap="square" rtlCol="0" anchor="t"/>
          <a:lstStyle/>
          <a:p>
            <a:pPr indent="0" marL="0">
              <a:lnSpc>
                <a:spcPct val="120000"/>
              </a:lnSpc>
              <a:buNone/>
            </a:pPr>
            <a:r>
              <a:rPr lang="en-US" sz="1300" dirty="0">
                <a:solidFill>
                  <a:srgbClr val="1C2620"/>
                </a:solidFill>
                <a:latin typeface="Calibri" pitchFamily="34" charset="0"/>
                <a:ea typeface="Calibri" pitchFamily="34" charset="-122"/>
                <a:cs typeface="Calibri" pitchFamily="34" charset="-120"/>
              </a:rPr>
              <a:t>DRIVES because the volatility regime informs structure choice — a squeeze (compressed vol) hints vol may expand, which favours different structures than a wide, already-volatile band.</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1E8"/>
        </a:solidFill>
      </p:bgPr>
    </p:bg>
    <p:spTree>
      <p:nvGrpSpPr>
        <p:cNvPr id="1" name=""/>
        <p:cNvGrpSpPr/>
        <p:nvPr/>
      </p:nvGrpSpPr>
      <p:grpSpPr>
        <a:xfrm>
          <a:off x="0" y="0"/>
          <a:ext cx="0" cy="0"/>
          <a:chOff x="0" y="0"/>
          <a:chExt cx="0" cy="0"/>
        </a:xfrm>
      </p:grpSpPr>
      <p:sp>
        <p:nvSpPr>
          <p:cNvPr id="2" name="Text 0"/>
          <p:cNvSpPr/>
          <p:nvPr/>
        </p:nvSpPr>
        <p:spPr>
          <a:xfrm>
            <a:off x="640080" y="411480"/>
            <a:ext cx="10515600" cy="274320"/>
          </a:xfrm>
          <a:prstGeom prst="rect">
            <a:avLst/>
          </a:prstGeom>
          <a:noFill/>
          <a:ln/>
        </p:spPr>
        <p:txBody>
          <a:bodyPr wrap="square" rtlCol="0" anchor="ctr"/>
          <a:lstStyle/>
          <a:p>
            <a:pPr indent="0" marL="0">
              <a:buNone/>
            </a:pPr>
            <a:r>
              <a:rPr lang="en-US" sz="1100" b="1" spc="300" kern="0" dirty="0">
                <a:solidFill>
                  <a:srgbClr val="1F6B4A"/>
                </a:solidFill>
                <a:latin typeface="Consolas" pitchFamily="34" charset="0"/>
                <a:ea typeface="Consolas" pitchFamily="34" charset="-122"/>
                <a:cs typeface="Consolas" pitchFamily="34" charset="-120"/>
              </a:rPr>
              <a:t>INDICATOR 4 OF 10 · IMPLIED VOLATILITY</a:t>
            </a:r>
            <a:endParaRPr lang="en-US" sz="1100" dirty="0"/>
          </a:p>
        </p:txBody>
      </p:sp>
      <p:sp>
        <p:nvSpPr>
          <p:cNvPr id="3" name="Text 1"/>
          <p:cNvSpPr/>
          <p:nvPr/>
        </p:nvSpPr>
        <p:spPr>
          <a:xfrm>
            <a:off x="640080" y="694944"/>
            <a:ext cx="11064240" cy="640080"/>
          </a:xfrm>
          <a:prstGeom prst="rect">
            <a:avLst/>
          </a:prstGeom>
          <a:noFill/>
          <a:ln/>
        </p:spPr>
        <p:txBody>
          <a:bodyPr wrap="square" rtlCol="0" anchor="ctr"/>
          <a:lstStyle/>
          <a:p>
            <a:pPr indent="0" marL="0">
              <a:buNone/>
            </a:pPr>
            <a:r>
              <a:rPr lang="en-US" sz="2700" b="1" dirty="0">
                <a:solidFill>
                  <a:srgbClr val="1C2620"/>
                </a:solidFill>
                <a:latin typeface="Georgia" pitchFamily="34" charset="0"/>
                <a:ea typeface="Georgia" pitchFamily="34" charset="-122"/>
                <a:cs typeface="Georgia" pitchFamily="34" charset="-120"/>
              </a:rPr>
              <a:t>IV (ATM)</a:t>
            </a:r>
            <a:endParaRPr lang="en-US" sz="2700" dirty="0"/>
          </a:p>
        </p:txBody>
      </p:sp>
      <p:sp>
        <p:nvSpPr>
          <p:cNvPr id="4" name="Shape 2"/>
          <p:cNvSpPr/>
          <p:nvPr/>
        </p:nvSpPr>
        <p:spPr>
          <a:xfrm>
            <a:off x="9052560" y="749808"/>
            <a:ext cx="961949" cy="384048"/>
          </a:xfrm>
          <a:prstGeom prst="roundRect">
            <a:avLst>
              <a:gd name="adj" fmla="val 50000"/>
            </a:avLst>
          </a:prstGeom>
          <a:solidFill>
            <a:srgbClr val="1F6B4A"/>
          </a:solidFill>
          <a:ln/>
        </p:spPr>
      </p:sp>
      <p:sp>
        <p:nvSpPr>
          <p:cNvPr id="5" name="Text 3"/>
          <p:cNvSpPr/>
          <p:nvPr/>
        </p:nvSpPr>
        <p:spPr>
          <a:xfrm>
            <a:off x="9052560" y="749808"/>
            <a:ext cx="961949" cy="384048"/>
          </a:xfrm>
          <a:prstGeom prst="rect">
            <a:avLst/>
          </a:prstGeom>
          <a:noFill/>
          <a:ln/>
        </p:spPr>
        <p:txBody>
          <a:bodyPr wrap="square" rtlCol="0" anchor="ctr"/>
          <a:lstStyle/>
          <a:p>
            <a:pPr algn="ctr" indent="0" marL="0">
              <a:buNone/>
            </a:pPr>
            <a:r>
              <a:rPr lang="en-US" sz="1100" b="1" spc="100" kern="0" dirty="0">
                <a:solidFill>
                  <a:srgbClr val="FFFFFF"/>
                </a:solidFill>
                <a:latin typeface="Consolas" pitchFamily="34" charset="0"/>
                <a:ea typeface="Consolas" pitchFamily="34" charset="-122"/>
                <a:cs typeface="Consolas" pitchFamily="34" charset="-120"/>
              </a:rPr>
              <a:t>DRIVES</a:t>
            </a:r>
            <a:endParaRPr lang="en-US" sz="1100" dirty="0"/>
          </a:p>
        </p:txBody>
      </p:sp>
      <p:sp>
        <p:nvSpPr>
          <p:cNvPr id="6" name="Text 4"/>
          <p:cNvSpPr/>
          <p:nvPr/>
        </p:nvSpPr>
        <p:spPr>
          <a:xfrm>
            <a:off x="640080" y="1417320"/>
            <a:ext cx="10789920" cy="457200"/>
          </a:xfrm>
          <a:prstGeom prst="rect">
            <a:avLst/>
          </a:prstGeom>
          <a:noFill/>
          <a:ln/>
        </p:spPr>
        <p:txBody>
          <a:bodyPr wrap="square" rtlCol="0" anchor="ctr"/>
          <a:lstStyle/>
          <a:p>
            <a:pPr indent="0" marL="0">
              <a:buNone/>
            </a:pPr>
            <a:r>
              <a:rPr lang="en-US" sz="1500" i="1" dirty="0">
                <a:solidFill>
                  <a:srgbClr val="1C2620"/>
                </a:solidFill>
                <a:latin typeface="Calibri" pitchFamily="34" charset="0"/>
                <a:ea typeface="Calibri" pitchFamily="34" charset="-122"/>
                <a:cs typeface="Calibri" pitchFamily="34" charset="-120"/>
              </a:rPr>
              <a:t>Implied volatility — how expensive are the options right now?</a:t>
            </a:r>
            <a:endParaRPr lang="en-US" sz="1500" dirty="0"/>
          </a:p>
        </p:txBody>
      </p:sp>
      <p:sp>
        <p:nvSpPr>
          <p:cNvPr id="7" name="Shape 5"/>
          <p:cNvSpPr/>
          <p:nvPr/>
        </p:nvSpPr>
        <p:spPr>
          <a:xfrm>
            <a:off x="640080" y="1965960"/>
            <a:ext cx="5349240" cy="4114800"/>
          </a:xfrm>
          <a:prstGeom prst="roundRect">
            <a:avLst>
              <a:gd name="adj" fmla="val 1333"/>
            </a:avLst>
          </a:prstGeom>
          <a:solidFill>
            <a:srgbClr val="FFFFFF"/>
          </a:solidFill>
          <a:ln w="12700">
            <a:solidFill>
              <a:srgbClr val="E4DDD0"/>
            </a:solidFill>
            <a:prstDash val="solid"/>
          </a:ln>
          <a:effectLst>
            <a:outerShdw sx="100000" sy="100000" kx="0" ky="0" algn="bl" rotWithShape="0" blurRad="76200" dist="38100" dir="8100000">
              <a:srgbClr val="000000">
                <a:alpha val="12000"/>
              </a:srgbClr>
            </a:outerShdw>
          </a:effectLst>
        </p:spPr>
      </p:sp>
      <p:sp>
        <p:nvSpPr>
          <p:cNvPr id="8" name="Text 6"/>
          <p:cNvSpPr/>
          <p:nvPr/>
        </p:nvSpPr>
        <p:spPr>
          <a:xfrm>
            <a:off x="914400" y="2121408"/>
            <a:ext cx="4754880" cy="274320"/>
          </a:xfrm>
          <a:prstGeom prst="rect">
            <a:avLst/>
          </a:prstGeom>
          <a:noFill/>
          <a:ln/>
        </p:spPr>
        <p:txBody>
          <a:bodyPr wrap="square" rtlCol="0" anchor="ctr"/>
          <a:lstStyle/>
          <a:p>
            <a:pPr indent="0" marL="0">
              <a:buNone/>
            </a:pPr>
            <a:r>
              <a:rPr lang="en-US" sz="1000" b="1" spc="100" kern="0" dirty="0">
                <a:solidFill>
                  <a:srgbClr val="1F6B4A"/>
                </a:solidFill>
                <a:latin typeface="Consolas" pitchFamily="34" charset="0"/>
                <a:ea typeface="Consolas" pitchFamily="34" charset="-122"/>
                <a:cs typeface="Consolas" pitchFamily="34" charset="-120"/>
              </a:rPr>
              <a:t>WHAT IT MEASURES</a:t>
            </a:r>
            <a:endParaRPr lang="en-US" sz="1000" dirty="0"/>
          </a:p>
        </p:txBody>
      </p:sp>
      <p:sp>
        <p:nvSpPr>
          <p:cNvPr id="9" name="Text 7"/>
          <p:cNvSpPr/>
          <p:nvPr/>
        </p:nvSpPr>
        <p:spPr>
          <a:xfrm>
            <a:off x="914400" y="2423160"/>
            <a:ext cx="4846320" cy="1143000"/>
          </a:xfrm>
          <a:prstGeom prst="rect">
            <a:avLst/>
          </a:prstGeom>
          <a:noFill/>
          <a:ln/>
        </p:spPr>
        <p:txBody>
          <a:bodyPr wrap="square" rtlCol="0" anchor="t"/>
          <a:lstStyle/>
          <a:p>
            <a:pPr indent="0" marL="0">
              <a:lnSpc>
                <a:spcPct val="120000"/>
              </a:lnSpc>
              <a:buNone/>
            </a:pPr>
            <a:r>
              <a:rPr lang="en-US" sz="1350" dirty="0">
                <a:solidFill>
                  <a:srgbClr val="1C2620"/>
                </a:solidFill>
                <a:latin typeface="Calibri" pitchFamily="34" charset="0"/>
                <a:ea typeface="Calibri" pitchFamily="34" charset="-122"/>
                <a:cs typeface="Calibri" pitchFamily="34" charset="-120"/>
              </a:rPr>
              <a:t>The market's expected future movement, priced into at-the-money options. High IV = options are expensive; low IV = cheap.</a:t>
            </a:r>
            <a:endParaRPr lang="en-US" sz="1350" dirty="0"/>
          </a:p>
        </p:txBody>
      </p:sp>
      <p:sp>
        <p:nvSpPr>
          <p:cNvPr id="10" name="Text 8"/>
          <p:cNvSpPr/>
          <p:nvPr/>
        </p:nvSpPr>
        <p:spPr>
          <a:xfrm>
            <a:off x="914400" y="3611880"/>
            <a:ext cx="4754880" cy="274320"/>
          </a:xfrm>
          <a:prstGeom prst="rect">
            <a:avLst/>
          </a:prstGeom>
          <a:noFill/>
          <a:ln/>
        </p:spPr>
        <p:txBody>
          <a:bodyPr wrap="square" rtlCol="0" anchor="ctr"/>
          <a:lstStyle/>
          <a:p>
            <a:pPr indent="0" marL="0">
              <a:buNone/>
            </a:pPr>
            <a:r>
              <a:rPr lang="en-US" sz="1000" b="1" spc="100" kern="0" dirty="0">
                <a:solidFill>
                  <a:srgbClr val="1F6B4A"/>
                </a:solidFill>
                <a:latin typeface="Consolas" pitchFamily="34" charset="0"/>
                <a:ea typeface="Consolas" pitchFamily="34" charset="-122"/>
                <a:cs typeface="Consolas" pitchFamily="34" charset="-120"/>
              </a:rPr>
              <a:t>HOW IT'S COMPUTED</a:t>
            </a:r>
            <a:endParaRPr lang="en-US" sz="1000" dirty="0"/>
          </a:p>
        </p:txBody>
      </p:sp>
      <p:sp>
        <p:nvSpPr>
          <p:cNvPr id="11" name="Text 9"/>
          <p:cNvSpPr/>
          <p:nvPr/>
        </p:nvSpPr>
        <p:spPr>
          <a:xfrm>
            <a:off x="914400" y="3913632"/>
            <a:ext cx="4846320" cy="2011680"/>
          </a:xfrm>
          <a:prstGeom prst="rect">
            <a:avLst/>
          </a:prstGeom>
          <a:noFill/>
          <a:ln/>
        </p:spPr>
        <p:txBody>
          <a:bodyPr wrap="square" rtlCol="0" anchor="t"/>
          <a:lstStyle/>
          <a:p>
            <a:pPr indent="0" marL="0">
              <a:lnSpc>
                <a:spcPct val="120000"/>
              </a:lnSpc>
              <a:buNone/>
            </a:pPr>
            <a:r>
              <a:rPr lang="en-US" sz="1300" dirty="0">
                <a:solidFill>
                  <a:srgbClr val="1C2620"/>
                </a:solidFill>
                <a:latin typeface="Calibri" pitchFamily="34" charset="0"/>
                <a:ea typeface="Calibri" pitchFamily="34" charset="-122"/>
                <a:cs typeface="Calibri" pitchFamily="34" charset="-120"/>
              </a:rPr>
              <a:t>Average implied vol of contracts within 5% of the spot price (from Alpaca's option greeks), expressed as a percentage.</a:t>
            </a:r>
            <a:endParaRPr lang="en-US" sz="1300" dirty="0"/>
          </a:p>
        </p:txBody>
      </p:sp>
      <p:sp>
        <p:nvSpPr>
          <p:cNvPr id="12" name="Shape 10"/>
          <p:cNvSpPr/>
          <p:nvPr/>
        </p:nvSpPr>
        <p:spPr>
          <a:xfrm>
            <a:off x="6172200" y="1965960"/>
            <a:ext cx="5349240" cy="1783080"/>
          </a:xfrm>
          <a:prstGeom prst="roundRect">
            <a:avLst>
              <a:gd name="adj" fmla="val 3077"/>
            </a:avLst>
          </a:prstGeom>
          <a:solidFill>
            <a:srgbClr val="0F2A1F"/>
          </a:solidFill>
          <a:ln/>
        </p:spPr>
      </p:sp>
      <p:sp>
        <p:nvSpPr>
          <p:cNvPr id="13" name="Text 11"/>
          <p:cNvSpPr/>
          <p:nvPr/>
        </p:nvSpPr>
        <p:spPr>
          <a:xfrm>
            <a:off x="6446520" y="2121408"/>
            <a:ext cx="4754880" cy="274320"/>
          </a:xfrm>
          <a:prstGeom prst="rect">
            <a:avLst/>
          </a:prstGeom>
          <a:noFill/>
          <a:ln/>
        </p:spPr>
        <p:txBody>
          <a:bodyPr wrap="square" rtlCol="0" anchor="ctr"/>
          <a:lstStyle/>
          <a:p>
            <a:pPr indent="0" marL="0">
              <a:buNone/>
            </a:pPr>
            <a:r>
              <a:rPr lang="en-US" sz="1000" b="1" spc="100" kern="0" dirty="0">
                <a:solidFill>
                  <a:srgbClr val="CAA12F"/>
                </a:solidFill>
                <a:latin typeface="Consolas" pitchFamily="34" charset="0"/>
                <a:ea typeface="Consolas" pitchFamily="34" charset="-122"/>
                <a:cs typeface="Consolas" pitchFamily="34" charset="-120"/>
              </a:rPr>
              <a:t>THRESHOLDS / VALUES</a:t>
            </a:r>
            <a:endParaRPr lang="en-US" sz="1000" dirty="0"/>
          </a:p>
        </p:txBody>
      </p:sp>
      <p:sp>
        <p:nvSpPr>
          <p:cNvPr id="14" name="Text 12"/>
          <p:cNvSpPr/>
          <p:nvPr/>
        </p:nvSpPr>
        <p:spPr>
          <a:xfrm>
            <a:off x="6446520" y="2423160"/>
            <a:ext cx="4846320" cy="1234440"/>
          </a:xfrm>
          <a:prstGeom prst="rect">
            <a:avLst/>
          </a:prstGeom>
          <a:noFill/>
          <a:ln/>
        </p:spPr>
        <p:txBody>
          <a:bodyPr wrap="square" rtlCol="0" anchor="t"/>
          <a:lstStyle/>
          <a:p>
            <a:pPr indent="0" marL="0">
              <a:lnSpc>
                <a:spcPct val="130000"/>
              </a:lnSpc>
              <a:buNone/>
            </a:pPr>
            <a:r>
              <a:rPr lang="en-US" sz="1300" dirty="0">
                <a:solidFill>
                  <a:srgbClr val="DCEEE4"/>
                </a:solidFill>
                <a:latin typeface="Consolas" pitchFamily="34" charset="0"/>
                <a:ea typeface="Consolas" pitchFamily="34" charset="-122"/>
                <a:cs typeface="Consolas" pitchFamily="34" charset="-120"/>
              </a:rPr>
              <a:t>Used by vega-SHORT gates</a:t>
            </a:r>
            <a:endParaRPr lang="en-US" sz="1300" dirty="0"/>
          </a:p>
          <a:p>
            <a:pPr indent="0" marL="0">
              <a:lnSpc>
                <a:spcPct val="130000"/>
              </a:lnSpc>
              <a:buNone/>
            </a:pPr>
            <a:r>
              <a:rPr lang="en-US" sz="1300" dirty="0">
                <a:solidFill>
                  <a:srgbClr val="DCEEE4"/>
                </a:solidFill>
                <a:latin typeface="Consolas" pitchFamily="34" charset="0"/>
                <a:ea typeface="Consolas" pitchFamily="34" charset="-122"/>
                <a:cs typeface="Consolas" pitchFamily="34" charset="-120"/>
              </a:rPr>
              <a:t>(BWB, condor, butterfly):</a:t>
            </a:r>
            <a:endParaRPr lang="en-US" sz="1300" dirty="0"/>
          </a:p>
          <a:p>
            <a:pPr indent="0" marL="0">
              <a:lnSpc>
                <a:spcPct val="130000"/>
              </a:lnSpc>
              <a:buNone/>
            </a:pPr>
            <a:endParaRPr lang="en-US" sz="1300" dirty="0"/>
          </a:p>
          <a:p>
            <a:pPr indent="0" marL="0">
              <a:lnSpc>
                <a:spcPct val="130000"/>
              </a:lnSpc>
              <a:buNone/>
            </a:pPr>
            <a:r>
              <a:rPr lang="en-US" sz="1300" dirty="0">
                <a:solidFill>
                  <a:srgbClr val="DCEEE4"/>
                </a:solidFill>
                <a:latin typeface="Consolas" pitchFamily="34" charset="0"/>
                <a:ea typeface="Consolas" pitchFamily="34" charset="-122"/>
                <a:cs typeface="Consolas" pitchFamily="34" charset="-120"/>
              </a:rPr>
              <a:t>high absolute IV = rich</a:t>
            </a:r>
            <a:endParaRPr lang="en-US" sz="1300" dirty="0"/>
          </a:p>
          <a:p>
            <a:pPr indent="0" marL="0">
              <a:lnSpc>
                <a:spcPct val="130000"/>
              </a:lnSpc>
              <a:buNone/>
            </a:pPr>
            <a:r>
              <a:rPr lang="en-US" sz="1300" dirty="0">
                <a:solidFill>
                  <a:srgbClr val="DCEEE4"/>
                </a:solidFill>
                <a:latin typeface="Consolas" pitchFamily="34" charset="0"/>
                <a:ea typeface="Consolas" pitchFamily="34" charset="-122"/>
                <a:cs typeface="Consolas" pitchFamily="34" charset="-120"/>
              </a:rPr>
              <a:t>premium = good to SELL</a:t>
            </a:r>
            <a:endParaRPr lang="en-US" sz="1300" dirty="0"/>
          </a:p>
          <a:p>
            <a:pPr indent="0" marL="0">
              <a:lnSpc>
                <a:spcPct val="130000"/>
              </a:lnSpc>
              <a:buNone/>
            </a:pPr>
            <a:endParaRPr lang="en-US" sz="1300" dirty="0"/>
          </a:p>
          <a:p>
            <a:pPr indent="0" marL="0">
              <a:lnSpc>
                <a:spcPct val="130000"/>
              </a:lnSpc>
              <a:buNone/>
            </a:pPr>
            <a:r>
              <a:rPr lang="en-US" sz="1300" dirty="0">
                <a:solidFill>
                  <a:srgbClr val="DCEEE4"/>
                </a:solidFill>
                <a:latin typeface="Consolas" pitchFamily="34" charset="0"/>
                <a:ea typeface="Consolas" pitchFamily="34" charset="-122"/>
                <a:cs typeface="Consolas" pitchFamily="34" charset="-120"/>
              </a:rPr>
              <a:t>e.g. BWB needs IV ≥ 25%</a:t>
            </a:r>
            <a:endParaRPr lang="en-US" sz="1300" dirty="0"/>
          </a:p>
        </p:txBody>
      </p:sp>
      <p:sp>
        <p:nvSpPr>
          <p:cNvPr id="15" name="Shape 13"/>
          <p:cNvSpPr/>
          <p:nvPr/>
        </p:nvSpPr>
        <p:spPr>
          <a:xfrm>
            <a:off x="6172200" y="3886200"/>
            <a:ext cx="5349240" cy="2194560"/>
          </a:xfrm>
          <a:prstGeom prst="roundRect">
            <a:avLst>
              <a:gd name="adj" fmla="val 2500"/>
            </a:avLst>
          </a:prstGeom>
          <a:solidFill>
            <a:srgbClr val="FFFFFF"/>
          </a:solidFill>
          <a:ln w="12700">
            <a:solidFill>
              <a:srgbClr val="E4DDD0"/>
            </a:solidFill>
            <a:prstDash val="solid"/>
          </a:ln>
          <a:effectLst>
            <a:outerShdw sx="100000" sy="100000" kx="0" ky="0" algn="bl" rotWithShape="0" blurRad="76200" dist="38100" dir="8100000">
              <a:srgbClr val="000000">
                <a:alpha val="12000"/>
              </a:srgbClr>
            </a:outerShdw>
          </a:effectLst>
        </p:spPr>
      </p:sp>
      <p:sp>
        <p:nvSpPr>
          <p:cNvPr id="16" name="Text 14"/>
          <p:cNvSpPr/>
          <p:nvPr/>
        </p:nvSpPr>
        <p:spPr>
          <a:xfrm>
            <a:off x="6446520" y="4041648"/>
            <a:ext cx="4754880" cy="274320"/>
          </a:xfrm>
          <a:prstGeom prst="rect">
            <a:avLst/>
          </a:prstGeom>
          <a:noFill/>
          <a:ln/>
        </p:spPr>
        <p:txBody>
          <a:bodyPr wrap="square" rtlCol="0" anchor="ctr"/>
          <a:lstStyle/>
          <a:p>
            <a:pPr indent="0" marL="0">
              <a:buNone/>
            </a:pPr>
            <a:r>
              <a:rPr lang="en-US" sz="1000" b="1" spc="100" kern="0" dirty="0">
                <a:solidFill>
                  <a:srgbClr val="1F6B4A"/>
                </a:solidFill>
                <a:latin typeface="Consolas" pitchFamily="34" charset="0"/>
                <a:ea typeface="Consolas" pitchFamily="34" charset="-122"/>
                <a:cs typeface="Consolas" pitchFamily="34" charset="-120"/>
              </a:rPr>
              <a:t>WHY THIS ROLE</a:t>
            </a:r>
            <a:endParaRPr lang="en-US" sz="1000" dirty="0"/>
          </a:p>
        </p:txBody>
      </p:sp>
      <p:sp>
        <p:nvSpPr>
          <p:cNvPr id="17" name="Text 15"/>
          <p:cNvSpPr/>
          <p:nvPr/>
        </p:nvSpPr>
        <p:spPr>
          <a:xfrm>
            <a:off x="6446520" y="4343400"/>
            <a:ext cx="4846320" cy="1600200"/>
          </a:xfrm>
          <a:prstGeom prst="rect">
            <a:avLst/>
          </a:prstGeom>
          <a:noFill/>
          <a:ln/>
        </p:spPr>
        <p:txBody>
          <a:bodyPr wrap="square" rtlCol="0" anchor="t"/>
          <a:lstStyle/>
          <a:p>
            <a:pPr indent="0" marL="0">
              <a:lnSpc>
                <a:spcPct val="120000"/>
              </a:lnSpc>
              <a:buNone/>
            </a:pPr>
            <a:r>
              <a:rPr lang="en-US" sz="1300" dirty="0">
                <a:solidFill>
                  <a:srgbClr val="1C2620"/>
                </a:solidFill>
                <a:latin typeface="Calibri" pitchFamily="34" charset="0"/>
                <a:ea typeface="Calibri" pitchFamily="34" charset="-122"/>
                <a:cs typeface="Calibri" pitchFamily="34" charset="-120"/>
              </a:rPr>
              <a:t>DRIVES the premium-selling structures. They WANT rich vol — the more expensive the options, the more credit we collect. For these, absolute IV is the right measure (unlike the next one).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1E8"/>
        </a:solidFill>
      </p:bgPr>
    </p:bg>
    <p:spTree>
      <p:nvGrpSpPr>
        <p:cNvPr id="1" name=""/>
        <p:cNvGrpSpPr/>
        <p:nvPr/>
      </p:nvGrpSpPr>
      <p:grpSpPr>
        <a:xfrm>
          <a:off x="0" y="0"/>
          <a:ext cx="0" cy="0"/>
          <a:chOff x="0" y="0"/>
          <a:chExt cx="0" cy="0"/>
        </a:xfrm>
      </p:grpSpPr>
      <p:sp>
        <p:nvSpPr>
          <p:cNvPr id="2" name="Text 0"/>
          <p:cNvSpPr/>
          <p:nvPr/>
        </p:nvSpPr>
        <p:spPr>
          <a:xfrm>
            <a:off x="640080" y="411480"/>
            <a:ext cx="10515600" cy="274320"/>
          </a:xfrm>
          <a:prstGeom prst="rect">
            <a:avLst/>
          </a:prstGeom>
          <a:noFill/>
          <a:ln/>
        </p:spPr>
        <p:txBody>
          <a:bodyPr wrap="square" rtlCol="0" anchor="ctr"/>
          <a:lstStyle/>
          <a:p>
            <a:pPr indent="0" marL="0">
              <a:buNone/>
            </a:pPr>
            <a:r>
              <a:rPr lang="en-US" sz="1100" b="1" spc="300" kern="0" dirty="0">
                <a:solidFill>
                  <a:srgbClr val="1F6B4A"/>
                </a:solidFill>
                <a:latin typeface="Consolas" pitchFamily="34" charset="0"/>
                <a:ea typeface="Consolas" pitchFamily="34" charset="-122"/>
                <a:cs typeface="Consolas" pitchFamily="34" charset="-120"/>
              </a:rPr>
              <a:t>INDICATOR 5 OF 10 · VOL VALUE</a:t>
            </a:r>
            <a:endParaRPr lang="en-US" sz="1100" dirty="0"/>
          </a:p>
        </p:txBody>
      </p:sp>
      <p:sp>
        <p:nvSpPr>
          <p:cNvPr id="3" name="Text 1"/>
          <p:cNvSpPr/>
          <p:nvPr/>
        </p:nvSpPr>
        <p:spPr>
          <a:xfrm>
            <a:off x="640080" y="694944"/>
            <a:ext cx="11064240" cy="640080"/>
          </a:xfrm>
          <a:prstGeom prst="rect">
            <a:avLst/>
          </a:prstGeom>
          <a:noFill/>
          <a:ln/>
        </p:spPr>
        <p:txBody>
          <a:bodyPr wrap="square" rtlCol="0" anchor="ctr"/>
          <a:lstStyle/>
          <a:p>
            <a:pPr indent="0" marL="0">
              <a:buNone/>
            </a:pPr>
            <a:r>
              <a:rPr lang="en-US" sz="2700" b="1" dirty="0">
                <a:solidFill>
                  <a:srgbClr val="1C2620"/>
                </a:solidFill>
                <a:latin typeface="Georgia" pitchFamily="34" charset="0"/>
                <a:ea typeface="Georgia" pitchFamily="34" charset="-122"/>
                <a:cs typeface="Georgia" pitchFamily="34" charset="-120"/>
              </a:rPr>
              <a:t>IV / RV Ratio</a:t>
            </a:r>
            <a:endParaRPr lang="en-US" sz="2700" dirty="0"/>
          </a:p>
        </p:txBody>
      </p:sp>
      <p:sp>
        <p:nvSpPr>
          <p:cNvPr id="4" name="Shape 2"/>
          <p:cNvSpPr/>
          <p:nvPr/>
        </p:nvSpPr>
        <p:spPr>
          <a:xfrm>
            <a:off x="9052560" y="749808"/>
            <a:ext cx="961949" cy="384048"/>
          </a:xfrm>
          <a:prstGeom prst="roundRect">
            <a:avLst>
              <a:gd name="adj" fmla="val 50000"/>
            </a:avLst>
          </a:prstGeom>
          <a:solidFill>
            <a:srgbClr val="1F6B4A"/>
          </a:solidFill>
          <a:ln/>
        </p:spPr>
      </p:sp>
      <p:sp>
        <p:nvSpPr>
          <p:cNvPr id="5" name="Text 3"/>
          <p:cNvSpPr/>
          <p:nvPr/>
        </p:nvSpPr>
        <p:spPr>
          <a:xfrm>
            <a:off x="9052560" y="749808"/>
            <a:ext cx="961949" cy="384048"/>
          </a:xfrm>
          <a:prstGeom prst="rect">
            <a:avLst/>
          </a:prstGeom>
          <a:noFill/>
          <a:ln/>
        </p:spPr>
        <p:txBody>
          <a:bodyPr wrap="square" rtlCol="0" anchor="ctr"/>
          <a:lstStyle/>
          <a:p>
            <a:pPr algn="ctr" indent="0" marL="0">
              <a:buNone/>
            </a:pPr>
            <a:r>
              <a:rPr lang="en-US" sz="1100" b="1" spc="100" kern="0" dirty="0">
                <a:solidFill>
                  <a:srgbClr val="FFFFFF"/>
                </a:solidFill>
                <a:latin typeface="Consolas" pitchFamily="34" charset="0"/>
                <a:ea typeface="Consolas" pitchFamily="34" charset="-122"/>
                <a:cs typeface="Consolas" pitchFamily="34" charset="-120"/>
              </a:rPr>
              <a:t>DRIVES</a:t>
            </a:r>
            <a:endParaRPr lang="en-US" sz="1100" dirty="0"/>
          </a:p>
        </p:txBody>
      </p:sp>
      <p:sp>
        <p:nvSpPr>
          <p:cNvPr id="6" name="Text 4"/>
          <p:cNvSpPr/>
          <p:nvPr/>
        </p:nvSpPr>
        <p:spPr>
          <a:xfrm>
            <a:off x="640080" y="1417320"/>
            <a:ext cx="10789920" cy="457200"/>
          </a:xfrm>
          <a:prstGeom prst="rect">
            <a:avLst/>
          </a:prstGeom>
          <a:noFill/>
          <a:ln/>
        </p:spPr>
        <p:txBody>
          <a:bodyPr wrap="square" rtlCol="0" anchor="ctr"/>
          <a:lstStyle/>
          <a:p>
            <a:pPr indent="0" marL="0">
              <a:buNone/>
            </a:pPr>
            <a:r>
              <a:rPr lang="en-US" sz="1500" i="1" dirty="0">
                <a:solidFill>
                  <a:srgbClr val="1C2620"/>
                </a:solidFill>
                <a:latin typeface="Calibri" pitchFamily="34" charset="0"/>
                <a:ea typeface="Calibri" pitchFamily="34" charset="-122"/>
                <a:cs typeface="Calibri" pitchFamily="34" charset="-120"/>
              </a:rPr>
              <a:t>Implied vs. realized vol — are options cheap or rich RELATIVE to how the stock moves?</a:t>
            </a:r>
            <a:endParaRPr lang="en-US" sz="1500" dirty="0"/>
          </a:p>
        </p:txBody>
      </p:sp>
      <p:sp>
        <p:nvSpPr>
          <p:cNvPr id="7" name="Shape 5"/>
          <p:cNvSpPr/>
          <p:nvPr/>
        </p:nvSpPr>
        <p:spPr>
          <a:xfrm>
            <a:off x="640080" y="1965960"/>
            <a:ext cx="5349240" cy="4114800"/>
          </a:xfrm>
          <a:prstGeom prst="roundRect">
            <a:avLst>
              <a:gd name="adj" fmla="val 1333"/>
            </a:avLst>
          </a:prstGeom>
          <a:solidFill>
            <a:srgbClr val="FFFFFF"/>
          </a:solidFill>
          <a:ln w="12700">
            <a:solidFill>
              <a:srgbClr val="E4DDD0"/>
            </a:solidFill>
            <a:prstDash val="solid"/>
          </a:ln>
          <a:effectLst>
            <a:outerShdw sx="100000" sy="100000" kx="0" ky="0" algn="bl" rotWithShape="0" blurRad="76200" dist="38100" dir="8100000">
              <a:srgbClr val="000000">
                <a:alpha val="12000"/>
              </a:srgbClr>
            </a:outerShdw>
          </a:effectLst>
        </p:spPr>
      </p:sp>
      <p:sp>
        <p:nvSpPr>
          <p:cNvPr id="8" name="Text 6"/>
          <p:cNvSpPr/>
          <p:nvPr/>
        </p:nvSpPr>
        <p:spPr>
          <a:xfrm>
            <a:off x="914400" y="2121408"/>
            <a:ext cx="4754880" cy="274320"/>
          </a:xfrm>
          <a:prstGeom prst="rect">
            <a:avLst/>
          </a:prstGeom>
          <a:noFill/>
          <a:ln/>
        </p:spPr>
        <p:txBody>
          <a:bodyPr wrap="square" rtlCol="0" anchor="ctr"/>
          <a:lstStyle/>
          <a:p>
            <a:pPr indent="0" marL="0">
              <a:buNone/>
            </a:pPr>
            <a:r>
              <a:rPr lang="en-US" sz="1000" b="1" spc="100" kern="0" dirty="0">
                <a:solidFill>
                  <a:srgbClr val="1F6B4A"/>
                </a:solidFill>
                <a:latin typeface="Consolas" pitchFamily="34" charset="0"/>
                <a:ea typeface="Consolas" pitchFamily="34" charset="-122"/>
                <a:cs typeface="Consolas" pitchFamily="34" charset="-120"/>
              </a:rPr>
              <a:t>WHAT IT MEASURES</a:t>
            </a:r>
            <a:endParaRPr lang="en-US" sz="1000" dirty="0"/>
          </a:p>
        </p:txBody>
      </p:sp>
      <p:sp>
        <p:nvSpPr>
          <p:cNvPr id="9" name="Text 7"/>
          <p:cNvSpPr/>
          <p:nvPr/>
        </p:nvSpPr>
        <p:spPr>
          <a:xfrm>
            <a:off x="914400" y="2423160"/>
            <a:ext cx="4846320" cy="1143000"/>
          </a:xfrm>
          <a:prstGeom prst="rect">
            <a:avLst/>
          </a:prstGeom>
          <a:noFill/>
          <a:ln/>
        </p:spPr>
        <p:txBody>
          <a:bodyPr wrap="square" rtlCol="0" anchor="t"/>
          <a:lstStyle/>
          <a:p>
            <a:pPr indent="0" marL="0">
              <a:lnSpc>
                <a:spcPct val="120000"/>
              </a:lnSpc>
              <a:buNone/>
            </a:pPr>
            <a:r>
              <a:rPr lang="en-US" sz="1350" dirty="0">
                <a:solidFill>
                  <a:srgbClr val="1C2620"/>
                </a:solidFill>
                <a:latin typeface="Calibri" pitchFamily="34" charset="0"/>
                <a:ea typeface="Calibri" pitchFamily="34" charset="-122"/>
                <a:cs typeface="Calibri" pitchFamily="34" charset="-120"/>
              </a:rPr>
              <a:t>Implied volatility divided by realized (actual) volatility. Below 1.0 means options are cheaper than the stock's real movement — genuinely cheap vol.</a:t>
            </a:r>
            <a:endParaRPr lang="en-US" sz="1350" dirty="0"/>
          </a:p>
        </p:txBody>
      </p:sp>
      <p:sp>
        <p:nvSpPr>
          <p:cNvPr id="10" name="Text 8"/>
          <p:cNvSpPr/>
          <p:nvPr/>
        </p:nvSpPr>
        <p:spPr>
          <a:xfrm>
            <a:off x="914400" y="3611880"/>
            <a:ext cx="4754880" cy="274320"/>
          </a:xfrm>
          <a:prstGeom prst="rect">
            <a:avLst/>
          </a:prstGeom>
          <a:noFill/>
          <a:ln/>
        </p:spPr>
        <p:txBody>
          <a:bodyPr wrap="square" rtlCol="0" anchor="ctr"/>
          <a:lstStyle/>
          <a:p>
            <a:pPr indent="0" marL="0">
              <a:buNone/>
            </a:pPr>
            <a:r>
              <a:rPr lang="en-US" sz="1000" b="1" spc="100" kern="0" dirty="0">
                <a:solidFill>
                  <a:srgbClr val="1F6B4A"/>
                </a:solidFill>
                <a:latin typeface="Consolas" pitchFamily="34" charset="0"/>
                <a:ea typeface="Consolas" pitchFamily="34" charset="-122"/>
                <a:cs typeface="Consolas" pitchFamily="34" charset="-120"/>
              </a:rPr>
              <a:t>HOW IT'S COMPUTED</a:t>
            </a:r>
            <a:endParaRPr lang="en-US" sz="1000" dirty="0"/>
          </a:p>
        </p:txBody>
      </p:sp>
      <p:sp>
        <p:nvSpPr>
          <p:cNvPr id="11" name="Text 9"/>
          <p:cNvSpPr/>
          <p:nvPr/>
        </p:nvSpPr>
        <p:spPr>
          <a:xfrm>
            <a:off x="914400" y="3913632"/>
            <a:ext cx="4846320" cy="2011680"/>
          </a:xfrm>
          <a:prstGeom prst="rect">
            <a:avLst/>
          </a:prstGeom>
          <a:noFill/>
          <a:ln/>
        </p:spPr>
        <p:txBody>
          <a:bodyPr wrap="square" rtlCol="0" anchor="t"/>
          <a:lstStyle/>
          <a:p>
            <a:pPr indent="0" marL="0">
              <a:lnSpc>
                <a:spcPct val="120000"/>
              </a:lnSpc>
              <a:buNone/>
            </a:pPr>
            <a:r>
              <a:rPr lang="en-US" sz="1300" dirty="0">
                <a:solidFill>
                  <a:srgbClr val="1C2620"/>
                </a:solidFill>
                <a:latin typeface="Calibri" pitchFamily="34" charset="0"/>
                <a:ea typeface="Calibri" pitchFamily="34" charset="-122"/>
                <a:cs typeface="Calibri" pitchFamily="34" charset="-120"/>
              </a:rPr>
              <a:t>ATM IV ÷ 30-day realized volatility. Realized vol = the stock's actual price variability over the last 30 days. Null-guarded: if either is missing, the gate is skipped.</a:t>
            </a:r>
            <a:endParaRPr lang="en-US" sz="1300" dirty="0"/>
          </a:p>
        </p:txBody>
      </p:sp>
      <p:sp>
        <p:nvSpPr>
          <p:cNvPr id="12" name="Shape 10"/>
          <p:cNvSpPr/>
          <p:nvPr/>
        </p:nvSpPr>
        <p:spPr>
          <a:xfrm>
            <a:off x="6172200" y="1965960"/>
            <a:ext cx="5349240" cy="1783080"/>
          </a:xfrm>
          <a:prstGeom prst="roundRect">
            <a:avLst>
              <a:gd name="adj" fmla="val 3077"/>
            </a:avLst>
          </a:prstGeom>
          <a:solidFill>
            <a:srgbClr val="0F2A1F"/>
          </a:solidFill>
          <a:ln/>
        </p:spPr>
      </p:sp>
      <p:sp>
        <p:nvSpPr>
          <p:cNvPr id="13" name="Text 11"/>
          <p:cNvSpPr/>
          <p:nvPr/>
        </p:nvSpPr>
        <p:spPr>
          <a:xfrm>
            <a:off x="6446520" y="2121408"/>
            <a:ext cx="4754880" cy="274320"/>
          </a:xfrm>
          <a:prstGeom prst="rect">
            <a:avLst/>
          </a:prstGeom>
          <a:noFill/>
          <a:ln/>
        </p:spPr>
        <p:txBody>
          <a:bodyPr wrap="square" rtlCol="0" anchor="ctr"/>
          <a:lstStyle/>
          <a:p>
            <a:pPr indent="0" marL="0">
              <a:buNone/>
            </a:pPr>
            <a:r>
              <a:rPr lang="en-US" sz="1000" b="1" spc="100" kern="0" dirty="0">
                <a:solidFill>
                  <a:srgbClr val="CAA12F"/>
                </a:solidFill>
                <a:latin typeface="Consolas" pitchFamily="34" charset="0"/>
                <a:ea typeface="Consolas" pitchFamily="34" charset="-122"/>
                <a:cs typeface="Consolas" pitchFamily="34" charset="-120"/>
              </a:rPr>
              <a:t>THRESHOLDS / VALUES</a:t>
            </a:r>
            <a:endParaRPr lang="en-US" sz="1000" dirty="0"/>
          </a:p>
        </p:txBody>
      </p:sp>
      <p:sp>
        <p:nvSpPr>
          <p:cNvPr id="14" name="Text 12"/>
          <p:cNvSpPr/>
          <p:nvPr/>
        </p:nvSpPr>
        <p:spPr>
          <a:xfrm>
            <a:off x="6446520" y="2423160"/>
            <a:ext cx="4846320" cy="1234440"/>
          </a:xfrm>
          <a:prstGeom prst="rect">
            <a:avLst/>
          </a:prstGeom>
          <a:noFill/>
          <a:ln/>
        </p:spPr>
        <p:txBody>
          <a:bodyPr wrap="square" rtlCol="0" anchor="t"/>
          <a:lstStyle/>
          <a:p>
            <a:pPr indent="0" marL="0">
              <a:lnSpc>
                <a:spcPct val="130000"/>
              </a:lnSpc>
              <a:buNone/>
            </a:pPr>
            <a:r>
              <a:rPr lang="en-US" sz="1300" dirty="0">
                <a:solidFill>
                  <a:srgbClr val="DCEEE4"/>
                </a:solidFill>
                <a:latin typeface="Consolas" pitchFamily="34" charset="0"/>
                <a:ea typeface="Consolas" pitchFamily="34" charset="-122"/>
                <a:cs typeface="Consolas" pitchFamily="34" charset="-120"/>
              </a:rPr>
              <a:t>IV/RV &lt; 1.0</a:t>
            </a:r>
            <a:endParaRPr lang="en-US" sz="1300" dirty="0"/>
          </a:p>
          <a:p>
            <a:pPr indent="0" marL="0">
              <a:lnSpc>
                <a:spcPct val="130000"/>
              </a:lnSpc>
              <a:buNone/>
            </a:pPr>
            <a:r>
              <a:rPr lang="en-US" sz="1300" dirty="0">
                <a:solidFill>
                  <a:srgbClr val="DCEEE4"/>
                </a:solidFill>
                <a:latin typeface="Consolas" pitchFamily="34" charset="0"/>
                <a:ea typeface="Consolas" pitchFamily="34" charset="-122"/>
                <a:cs typeface="Consolas" pitchFamily="34" charset="-120"/>
              </a:rPr>
              <a:t>  → vol is CHEAP (buy it)</a:t>
            </a:r>
            <a:endParaRPr lang="en-US" sz="1300" dirty="0"/>
          </a:p>
          <a:p>
            <a:pPr indent="0" marL="0">
              <a:lnSpc>
                <a:spcPct val="130000"/>
              </a:lnSpc>
              <a:buNone/>
            </a:pPr>
            <a:endParaRPr lang="en-US" sz="1300" dirty="0"/>
          </a:p>
          <a:p>
            <a:pPr indent="0" marL="0">
              <a:lnSpc>
                <a:spcPct val="130000"/>
              </a:lnSpc>
              <a:buNone/>
            </a:pPr>
            <a:r>
              <a:rPr lang="en-US" sz="1300" dirty="0">
                <a:solidFill>
                  <a:srgbClr val="DCEEE4"/>
                </a:solidFill>
                <a:latin typeface="Consolas" pitchFamily="34" charset="0"/>
                <a:ea typeface="Consolas" pitchFamily="34" charset="-122"/>
                <a:cs typeface="Consolas" pitchFamily="34" charset="-120"/>
              </a:rPr>
              <a:t>IV/RV ≥ 1.0</a:t>
            </a:r>
            <a:endParaRPr lang="en-US" sz="1300" dirty="0"/>
          </a:p>
          <a:p>
            <a:pPr indent="0" marL="0">
              <a:lnSpc>
                <a:spcPct val="130000"/>
              </a:lnSpc>
              <a:buNone/>
            </a:pPr>
            <a:r>
              <a:rPr lang="en-US" sz="1300" dirty="0">
                <a:solidFill>
                  <a:srgbClr val="DCEEE4"/>
                </a:solidFill>
                <a:latin typeface="Consolas" pitchFamily="34" charset="0"/>
                <a:ea typeface="Consolas" pitchFamily="34" charset="-122"/>
                <a:cs typeface="Consolas" pitchFamily="34" charset="-120"/>
              </a:rPr>
              <a:t>  → vol is rich (don't buy)</a:t>
            </a:r>
            <a:endParaRPr lang="en-US" sz="1300" dirty="0"/>
          </a:p>
          <a:p>
            <a:pPr indent="0" marL="0">
              <a:lnSpc>
                <a:spcPct val="130000"/>
              </a:lnSpc>
              <a:buNone/>
            </a:pPr>
            <a:endParaRPr lang="en-US" sz="1300" dirty="0"/>
          </a:p>
          <a:p>
            <a:pPr indent="0" marL="0">
              <a:lnSpc>
                <a:spcPct val="130000"/>
              </a:lnSpc>
              <a:buNone/>
            </a:pPr>
            <a:r>
              <a:rPr lang="en-US" sz="1300" dirty="0">
                <a:solidFill>
                  <a:srgbClr val="DCEEE4"/>
                </a:solidFill>
                <a:latin typeface="Consolas" pitchFamily="34" charset="0"/>
                <a:ea typeface="Consolas" pitchFamily="34" charset="-122"/>
                <a:cs typeface="Consolas" pitchFamily="34" charset="-120"/>
              </a:rPr>
              <a:t>calendar gate needs &lt; 1.0</a:t>
            </a:r>
            <a:endParaRPr lang="en-US" sz="1300" dirty="0"/>
          </a:p>
        </p:txBody>
      </p:sp>
      <p:sp>
        <p:nvSpPr>
          <p:cNvPr id="15" name="Shape 13"/>
          <p:cNvSpPr/>
          <p:nvPr/>
        </p:nvSpPr>
        <p:spPr>
          <a:xfrm>
            <a:off x="6172200" y="3886200"/>
            <a:ext cx="5349240" cy="2194560"/>
          </a:xfrm>
          <a:prstGeom prst="roundRect">
            <a:avLst>
              <a:gd name="adj" fmla="val 2500"/>
            </a:avLst>
          </a:prstGeom>
          <a:solidFill>
            <a:srgbClr val="FFFFFF"/>
          </a:solidFill>
          <a:ln w="12700">
            <a:solidFill>
              <a:srgbClr val="E4DDD0"/>
            </a:solidFill>
            <a:prstDash val="solid"/>
          </a:ln>
          <a:effectLst>
            <a:outerShdw sx="100000" sy="100000" kx="0" ky="0" algn="bl" rotWithShape="0" blurRad="76200" dist="38100" dir="8100000">
              <a:srgbClr val="000000">
                <a:alpha val="12000"/>
              </a:srgbClr>
            </a:outerShdw>
          </a:effectLst>
        </p:spPr>
      </p:sp>
      <p:sp>
        <p:nvSpPr>
          <p:cNvPr id="16" name="Text 14"/>
          <p:cNvSpPr/>
          <p:nvPr/>
        </p:nvSpPr>
        <p:spPr>
          <a:xfrm>
            <a:off x="6446520" y="4041648"/>
            <a:ext cx="4754880" cy="274320"/>
          </a:xfrm>
          <a:prstGeom prst="rect">
            <a:avLst/>
          </a:prstGeom>
          <a:noFill/>
          <a:ln/>
        </p:spPr>
        <p:txBody>
          <a:bodyPr wrap="square" rtlCol="0" anchor="ctr"/>
          <a:lstStyle/>
          <a:p>
            <a:pPr indent="0" marL="0">
              <a:buNone/>
            </a:pPr>
            <a:r>
              <a:rPr lang="en-US" sz="1000" b="1" spc="100" kern="0" dirty="0">
                <a:solidFill>
                  <a:srgbClr val="1F6B4A"/>
                </a:solidFill>
                <a:latin typeface="Consolas" pitchFamily="34" charset="0"/>
                <a:ea typeface="Consolas" pitchFamily="34" charset="-122"/>
                <a:cs typeface="Consolas" pitchFamily="34" charset="-120"/>
              </a:rPr>
              <a:t>WHY THIS ROLE</a:t>
            </a:r>
            <a:endParaRPr lang="en-US" sz="1000" dirty="0"/>
          </a:p>
        </p:txBody>
      </p:sp>
      <p:sp>
        <p:nvSpPr>
          <p:cNvPr id="17" name="Text 15"/>
          <p:cNvSpPr/>
          <p:nvPr/>
        </p:nvSpPr>
        <p:spPr>
          <a:xfrm>
            <a:off x="6446520" y="4343400"/>
            <a:ext cx="4846320" cy="1600200"/>
          </a:xfrm>
          <a:prstGeom prst="rect">
            <a:avLst/>
          </a:prstGeom>
          <a:noFill/>
          <a:ln/>
        </p:spPr>
        <p:txBody>
          <a:bodyPr wrap="square" rtlCol="0" anchor="t"/>
          <a:lstStyle/>
          <a:p>
            <a:pPr indent="0" marL="0">
              <a:lnSpc>
                <a:spcPct val="120000"/>
              </a:lnSpc>
              <a:buNone/>
            </a:pPr>
            <a:r>
              <a:rPr lang="en-US" sz="1300" dirty="0">
                <a:solidFill>
                  <a:srgbClr val="1C2620"/>
                </a:solidFill>
                <a:latin typeface="Calibri" pitchFamily="34" charset="0"/>
                <a:ea typeface="Calibri" pitchFamily="34" charset="-122"/>
                <a:cs typeface="Calibri" pitchFamily="34" charset="-120"/>
              </a:rPr>
              <a:t>DRIVES the vega-LONG structures (calendar). They WANT cheap vol. Critically, absolute IV is NOT enough here — a stock can have low absolute IV that's still rich vs. its own movement. This ratio is what catches that.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1E8"/>
        </a:solidFill>
      </p:bgPr>
    </p:bg>
    <p:spTree>
      <p:nvGrpSpPr>
        <p:cNvPr id="1" name=""/>
        <p:cNvGrpSpPr/>
        <p:nvPr/>
      </p:nvGrpSpPr>
      <p:grpSpPr>
        <a:xfrm>
          <a:off x="0" y="0"/>
          <a:ext cx="0" cy="0"/>
          <a:chOff x="0" y="0"/>
          <a:chExt cx="0" cy="0"/>
        </a:xfrm>
      </p:grpSpPr>
      <p:sp>
        <p:nvSpPr>
          <p:cNvPr id="2" name="Text 0"/>
          <p:cNvSpPr/>
          <p:nvPr/>
        </p:nvSpPr>
        <p:spPr>
          <a:xfrm>
            <a:off x="640080" y="411480"/>
            <a:ext cx="10515600" cy="274320"/>
          </a:xfrm>
          <a:prstGeom prst="rect">
            <a:avLst/>
          </a:prstGeom>
          <a:noFill/>
          <a:ln/>
        </p:spPr>
        <p:txBody>
          <a:bodyPr wrap="square" rtlCol="0" anchor="ctr"/>
          <a:lstStyle/>
          <a:p>
            <a:pPr indent="0" marL="0">
              <a:buNone/>
            </a:pPr>
            <a:r>
              <a:rPr lang="en-US" sz="1100" b="1" spc="300" kern="0" dirty="0">
                <a:solidFill>
                  <a:srgbClr val="1F6B4A"/>
                </a:solidFill>
                <a:latin typeface="Consolas" pitchFamily="34" charset="0"/>
                <a:ea typeface="Consolas" pitchFamily="34" charset="-122"/>
                <a:cs typeface="Consolas" pitchFamily="34" charset="-120"/>
              </a:rPr>
              <a:t>INDICATOR 6 OF 10 · THE WALLS</a:t>
            </a:r>
            <a:endParaRPr lang="en-US" sz="1100" dirty="0"/>
          </a:p>
        </p:txBody>
      </p:sp>
      <p:sp>
        <p:nvSpPr>
          <p:cNvPr id="3" name="Text 1"/>
          <p:cNvSpPr/>
          <p:nvPr/>
        </p:nvSpPr>
        <p:spPr>
          <a:xfrm>
            <a:off x="640080" y="694944"/>
            <a:ext cx="11064240" cy="640080"/>
          </a:xfrm>
          <a:prstGeom prst="rect">
            <a:avLst/>
          </a:prstGeom>
          <a:noFill/>
          <a:ln/>
        </p:spPr>
        <p:txBody>
          <a:bodyPr wrap="square" rtlCol="0" anchor="ctr"/>
          <a:lstStyle/>
          <a:p>
            <a:pPr indent="0" marL="0">
              <a:buNone/>
            </a:pPr>
            <a:r>
              <a:rPr lang="en-US" sz="2700" b="1" dirty="0">
                <a:solidFill>
                  <a:srgbClr val="1C2620"/>
                </a:solidFill>
                <a:latin typeface="Georgia" pitchFamily="34" charset="0"/>
                <a:ea typeface="Georgia" pitchFamily="34" charset="-122"/>
                <a:cs typeface="Georgia" pitchFamily="34" charset="-120"/>
              </a:rPr>
              <a:t>Gamma / GEX</a:t>
            </a:r>
            <a:endParaRPr lang="en-US" sz="2700" dirty="0"/>
          </a:p>
        </p:txBody>
      </p:sp>
      <p:sp>
        <p:nvSpPr>
          <p:cNvPr id="4" name="Shape 2"/>
          <p:cNvSpPr/>
          <p:nvPr/>
        </p:nvSpPr>
        <p:spPr>
          <a:xfrm>
            <a:off x="9052560" y="749808"/>
            <a:ext cx="961949" cy="384048"/>
          </a:xfrm>
          <a:prstGeom prst="roundRect">
            <a:avLst>
              <a:gd name="adj" fmla="val 50000"/>
            </a:avLst>
          </a:prstGeom>
          <a:solidFill>
            <a:srgbClr val="1F6B4A"/>
          </a:solidFill>
          <a:ln/>
        </p:spPr>
      </p:sp>
      <p:sp>
        <p:nvSpPr>
          <p:cNvPr id="5" name="Text 3"/>
          <p:cNvSpPr/>
          <p:nvPr/>
        </p:nvSpPr>
        <p:spPr>
          <a:xfrm>
            <a:off x="9052560" y="749808"/>
            <a:ext cx="961949" cy="384048"/>
          </a:xfrm>
          <a:prstGeom prst="rect">
            <a:avLst/>
          </a:prstGeom>
          <a:noFill/>
          <a:ln/>
        </p:spPr>
        <p:txBody>
          <a:bodyPr wrap="square" rtlCol="0" anchor="ctr"/>
          <a:lstStyle/>
          <a:p>
            <a:pPr algn="ctr" indent="0" marL="0">
              <a:buNone/>
            </a:pPr>
            <a:r>
              <a:rPr lang="en-US" sz="1100" b="1" spc="100" kern="0" dirty="0">
                <a:solidFill>
                  <a:srgbClr val="FFFFFF"/>
                </a:solidFill>
                <a:latin typeface="Consolas" pitchFamily="34" charset="0"/>
                <a:ea typeface="Consolas" pitchFamily="34" charset="-122"/>
                <a:cs typeface="Consolas" pitchFamily="34" charset="-120"/>
              </a:rPr>
              <a:t>DRIVES</a:t>
            </a:r>
            <a:endParaRPr lang="en-US" sz="1100" dirty="0"/>
          </a:p>
        </p:txBody>
      </p:sp>
      <p:sp>
        <p:nvSpPr>
          <p:cNvPr id="6" name="Text 4"/>
          <p:cNvSpPr/>
          <p:nvPr/>
        </p:nvSpPr>
        <p:spPr>
          <a:xfrm>
            <a:off x="640080" y="1417320"/>
            <a:ext cx="10789920" cy="457200"/>
          </a:xfrm>
          <a:prstGeom prst="rect">
            <a:avLst/>
          </a:prstGeom>
          <a:noFill/>
          <a:ln/>
        </p:spPr>
        <p:txBody>
          <a:bodyPr wrap="square" rtlCol="0" anchor="ctr"/>
          <a:lstStyle/>
          <a:p>
            <a:pPr indent="0" marL="0">
              <a:buNone/>
            </a:pPr>
            <a:r>
              <a:rPr lang="en-US" sz="1500" i="1" dirty="0">
                <a:solidFill>
                  <a:srgbClr val="1C2620"/>
                </a:solidFill>
                <a:latin typeface="Calibri" pitchFamily="34" charset="0"/>
                <a:ea typeface="Calibri" pitchFamily="34" charset="-122"/>
                <a:cs typeface="Calibri" pitchFamily="34" charset="-120"/>
              </a:rPr>
              <a:t>Dealer hedging walls — invisible support and resistance.</a:t>
            </a:r>
            <a:endParaRPr lang="en-US" sz="1500" dirty="0"/>
          </a:p>
        </p:txBody>
      </p:sp>
      <p:sp>
        <p:nvSpPr>
          <p:cNvPr id="7" name="Shape 5"/>
          <p:cNvSpPr/>
          <p:nvPr/>
        </p:nvSpPr>
        <p:spPr>
          <a:xfrm>
            <a:off x="640080" y="1965960"/>
            <a:ext cx="5349240" cy="4114800"/>
          </a:xfrm>
          <a:prstGeom prst="roundRect">
            <a:avLst>
              <a:gd name="adj" fmla="val 1333"/>
            </a:avLst>
          </a:prstGeom>
          <a:solidFill>
            <a:srgbClr val="FFFFFF"/>
          </a:solidFill>
          <a:ln w="12700">
            <a:solidFill>
              <a:srgbClr val="E4DDD0"/>
            </a:solidFill>
            <a:prstDash val="solid"/>
          </a:ln>
          <a:effectLst>
            <a:outerShdw sx="100000" sy="100000" kx="0" ky="0" algn="bl" rotWithShape="0" blurRad="76200" dist="38100" dir="8100000">
              <a:srgbClr val="000000">
                <a:alpha val="12000"/>
              </a:srgbClr>
            </a:outerShdw>
          </a:effectLst>
        </p:spPr>
      </p:sp>
      <p:sp>
        <p:nvSpPr>
          <p:cNvPr id="8" name="Text 6"/>
          <p:cNvSpPr/>
          <p:nvPr/>
        </p:nvSpPr>
        <p:spPr>
          <a:xfrm>
            <a:off x="914400" y="2121408"/>
            <a:ext cx="4754880" cy="274320"/>
          </a:xfrm>
          <a:prstGeom prst="rect">
            <a:avLst/>
          </a:prstGeom>
          <a:noFill/>
          <a:ln/>
        </p:spPr>
        <p:txBody>
          <a:bodyPr wrap="square" rtlCol="0" anchor="ctr"/>
          <a:lstStyle/>
          <a:p>
            <a:pPr indent="0" marL="0">
              <a:buNone/>
            </a:pPr>
            <a:r>
              <a:rPr lang="en-US" sz="1000" b="1" spc="100" kern="0" dirty="0">
                <a:solidFill>
                  <a:srgbClr val="1F6B4A"/>
                </a:solidFill>
                <a:latin typeface="Consolas" pitchFamily="34" charset="0"/>
                <a:ea typeface="Consolas" pitchFamily="34" charset="-122"/>
                <a:cs typeface="Consolas" pitchFamily="34" charset="-120"/>
              </a:rPr>
              <a:t>WHAT IT MEASURES</a:t>
            </a:r>
            <a:endParaRPr lang="en-US" sz="1000" dirty="0"/>
          </a:p>
        </p:txBody>
      </p:sp>
      <p:sp>
        <p:nvSpPr>
          <p:cNvPr id="9" name="Text 7"/>
          <p:cNvSpPr/>
          <p:nvPr/>
        </p:nvSpPr>
        <p:spPr>
          <a:xfrm>
            <a:off x="914400" y="2423160"/>
            <a:ext cx="4846320" cy="1143000"/>
          </a:xfrm>
          <a:prstGeom prst="rect">
            <a:avLst/>
          </a:prstGeom>
          <a:noFill/>
          <a:ln/>
        </p:spPr>
        <p:txBody>
          <a:bodyPr wrap="square" rtlCol="0" anchor="t"/>
          <a:lstStyle/>
          <a:p>
            <a:pPr indent="0" marL="0">
              <a:lnSpc>
                <a:spcPct val="120000"/>
              </a:lnSpc>
              <a:buNone/>
            </a:pPr>
            <a:r>
              <a:rPr lang="en-US" sz="1350" dirty="0">
                <a:solidFill>
                  <a:srgbClr val="1C2620"/>
                </a:solidFill>
                <a:latin typeface="Calibri" pitchFamily="34" charset="0"/>
                <a:ea typeface="Calibri" pitchFamily="34" charset="-122"/>
                <a:cs typeface="Calibri" pitchFamily="34" charset="-120"/>
              </a:rPr>
              <a:t>Where heavy options positioning forces market-makers to hedge, creating a floor and ceiling price tends to stay between. GEX = gamma exposure concentration.</a:t>
            </a:r>
            <a:endParaRPr lang="en-US" sz="1350" dirty="0"/>
          </a:p>
        </p:txBody>
      </p:sp>
      <p:sp>
        <p:nvSpPr>
          <p:cNvPr id="10" name="Text 8"/>
          <p:cNvSpPr/>
          <p:nvPr/>
        </p:nvSpPr>
        <p:spPr>
          <a:xfrm>
            <a:off x="914400" y="3611880"/>
            <a:ext cx="4754880" cy="274320"/>
          </a:xfrm>
          <a:prstGeom prst="rect">
            <a:avLst/>
          </a:prstGeom>
          <a:noFill/>
          <a:ln/>
        </p:spPr>
        <p:txBody>
          <a:bodyPr wrap="square" rtlCol="0" anchor="ctr"/>
          <a:lstStyle/>
          <a:p>
            <a:pPr indent="0" marL="0">
              <a:buNone/>
            </a:pPr>
            <a:r>
              <a:rPr lang="en-US" sz="1000" b="1" spc="100" kern="0" dirty="0">
                <a:solidFill>
                  <a:srgbClr val="1F6B4A"/>
                </a:solidFill>
                <a:latin typeface="Consolas" pitchFamily="34" charset="0"/>
                <a:ea typeface="Consolas" pitchFamily="34" charset="-122"/>
                <a:cs typeface="Consolas" pitchFamily="34" charset="-120"/>
              </a:rPr>
              <a:t>HOW IT'S COMPUTED</a:t>
            </a:r>
            <a:endParaRPr lang="en-US" sz="1000" dirty="0"/>
          </a:p>
        </p:txBody>
      </p:sp>
      <p:sp>
        <p:nvSpPr>
          <p:cNvPr id="11" name="Text 9"/>
          <p:cNvSpPr/>
          <p:nvPr/>
        </p:nvSpPr>
        <p:spPr>
          <a:xfrm>
            <a:off x="914400" y="3913632"/>
            <a:ext cx="4846320" cy="2011680"/>
          </a:xfrm>
          <a:prstGeom prst="rect">
            <a:avLst/>
          </a:prstGeom>
          <a:noFill/>
          <a:ln/>
        </p:spPr>
        <p:txBody>
          <a:bodyPr wrap="square" rtlCol="0" anchor="t"/>
          <a:lstStyle/>
          <a:p>
            <a:pPr indent="0" marL="0">
              <a:lnSpc>
                <a:spcPct val="120000"/>
              </a:lnSpc>
              <a:buNone/>
            </a:pPr>
            <a:r>
              <a:rPr lang="en-US" sz="1300" dirty="0">
                <a:solidFill>
                  <a:srgbClr val="1C2620"/>
                </a:solidFill>
                <a:latin typeface="Calibri" pitchFamily="34" charset="0"/>
                <a:ea typeface="Calibri" pitchFamily="34" charset="-122"/>
                <a:cs typeface="Calibri" pitchFamily="34" charset="-120"/>
              </a:rPr>
              <a:t>From option greeks + open interest: we find the strikes with the largest gamma exposure (the 'walls') and measure how concentrated they are vs. the total.</a:t>
            </a:r>
            <a:endParaRPr lang="en-US" sz="1300" dirty="0"/>
          </a:p>
        </p:txBody>
      </p:sp>
      <p:sp>
        <p:nvSpPr>
          <p:cNvPr id="12" name="Shape 10"/>
          <p:cNvSpPr/>
          <p:nvPr/>
        </p:nvSpPr>
        <p:spPr>
          <a:xfrm>
            <a:off x="6172200" y="1965960"/>
            <a:ext cx="5349240" cy="1783080"/>
          </a:xfrm>
          <a:prstGeom prst="roundRect">
            <a:avLst>
              <a:gd name="adj" fmla="val 3077"/>
            </a:avLst>
          </a:prstGeom>
          <a:solidFill>
            <a:srgbClr val="0F2A1F"/>
          </a:solidFill>
          <a:ln/>
        </p:spPr>
      </p:sp>
      <p:sp>
        <p:nvSpPr>
          <p:cNvPr id="13" name="Text 11"/>
          <p:cNvSpPr/>
          <p:nvPr/>
        </p:nvSpPr>
        <p:spPr>
          <a:xfrm>
            <a:off x="6446520" y="2121408"/>
            <a:ext cx="4754880" cy="274320"/>
          </a:xfrm>
          <a:prstGeom prst="rect">
            <a:avLst/>
          </a:prstGeom>
          <a:noFill/>
          <a:ln/>
        </p:spPr>
        <p:txBody>
          <a:bodyPr wrap="square" rtlCol="0" anchor="ctr"/>
          <a:lstStyle/>
          <a:p>
            <a:pPr indent="0" marL="0">
              <a:buNone/>
            </a:pPr>
            <a:r>
              <a:rPr lang="en-US" sz="1000" b="1" spc="100" kern="0" dirty="0">
                <a:solidFill>
                  <a:srgbClr val="CAA12F"/>
                </a:solidFill>
                <a:latin typeface="Consolas" pitchFamily="34" charset="0"/>
                <a:ea typeface="Consolas" pitchFamily="34" charset="-122"/>
                <a:cs typeface="Consolas" pitchFamily="34" charset="-120"/>
              </a:rPr>
              <a:t>THRESHOLDS / VALUES</a:t>
            </a:r>
            <a:endParaRPr lang="en-US" sz="1000" dirty="0"/>
          </a:p>
        </p:txBody>
      </p:sp>
      <p:sp>
        <p:nvSpPr>
          <p:cNvPr id="14" name="Text 12"/>
          <p:cNvSpPr/>
          <p:nvPr/>
        </p:nvSpPr>
        <p:spPr>
          <a:xfrm>
            <a:off x="6446520" y="2423160"/>
            <a:ext cx="4846320" cy="1234440"/>
          </a:xfrm>
          <a:prstGeom prst="rect">
            <a:avLst/>
          </a:prstGeom>
          <a:noFill/>
          <a:ln/>
        </p:spPr>
        <p:txBody>
          <a:bodyPr wrap="square" rtlCol="0" anchor="t"/>
          <a:lstStyle/>
          <a:p>
            <a:pPr indent="0" marL="0">
              <a:lnSpc>
                <a:spcPct val="130000"/>
              </a:lnSpc>
              <a:buNone/>
            </a:pPr>
            <a:r>
              <a:rPr lang="en-US" sz="1300" dirty="0">
                <a:solidFill>
                  <a:srgbClr val="DCEEE4"/>
                </a:solidFill>
                <a:latin typeface="Consolas" pitchFamily="34" charset="0"/>
                <a:ea typeface="Consolas" pitchFamily="34" charset="-122"/>
                <a:cs typeface="Consolas" pitchFamily="34" charset="-120"/>
              </a:rPr>
              <a:t>wall strength feeds the</a:t>
            </a:r>
            <a:endParaRPr lang="en-US" sz="1300" dirty="0"/>
          </a:p>
          <a:p>
            <a:pPr indent="0" marL="0">
              <a:lnSpc>
                <a:spcPct val="130000"/>
              </a:lnSpc>
              <a:buNone/>
            </a:pPr>
            <a:r>
              <a:rPr lang="en-US" sz="1300" dirty="0">
                <a:solidFill>
                  <a:srgbClr val="DCEEE4"/>
                </a:solidFill>
                <a:latin typeface="Consolas" pitchFamily="34" charset="0"/>
                <a:ea typeface="Consolas" pitchFamily="34" charset="-122"/>
                <a:cs typeface="Consolas" pitchFamily="34" charset="-120"/>
              </a:rPr>
              <a:t>BLENDED CONFIDENCE</a:t>
            </a:r>
            <a:endParaRPr lang="en-US" sz="1300" dirty="0"/>
          </a:p>
          <a:p>
            <a:pPr indent="0" marL="0">
              <a:lnSpc>
                <a:spcPct val="130000"/>
              </a:lnSpc>
              <a:buNone/>
            </a:pPr>
            <a:r>
              <a:rPr lang="en-US" sz="1300" dirty="0">
                <a:solidFill>
                  <a:srgbClr val="DCEEE4"/>
                </a:solidFill>
                <a:latin typeface="Consolas" pitchFamily="34" charset="0"/>
                <a:ea typeface="Consolas" pitchFamily="34" charset="-122"/>
                <a:cs typeface="Consolas" pitchFamily="34" charset="-120"/>
              </a:rPr>
              <a:t>(35% weight)</a:t>
            </a:r>
            <a:endParaRPr lang="en-US" sz="1300" dirty="0"/>
          </a:p>
          <a:p>
            <a:pPr indent="0" marL="0">
              <a:lnSpc>
                <a:spcPct val="130000"/>
              </a:lnSpc>
              <a:buNone/>
            </a:pPr>
            <a:endParaRPr lang="en-US" sz="1300" dirty="0"/>
          </a:p>
          <a:p>
            <a:pPr indent="0" marL="0">
              <a:lnSpc>
                <a:spcPct val="130000"/>
              </a:lnSpc>
              <a:buNone/>
            </a:pPr>
            <a:r>
              <a:rPr lang="en-US" sz="1300" dirty="0">
                <a:solidFill>
                  <a:srgbClr val="DCEEE4"/>
                </a:solidFill>
                <a:latin typeface="Consolas" pitchFamily="34" charset="0"/>
                <a:ea typeface="Consolas" pitchFamily="34" charset="-122"/>
                <a:cs typeface="Consolas" pitchFamily="34" charset="-120"/>
              </a:rPr>
              <a:t>→ confidence ≥ 0.60</a:t>
            </a:r>
            <a:endParaRPr lang="en-US" sz="1300" dirty="0"/>
          </a:p>
          <a:p>
            <a:pPr indent="0" marL="0">
              <a:lnSpc>
                <a:spcPct val="130000"/>
              </a:lnSpc>
              <a:buNone/>
            </a:pPr>
            <a:r>
              <a:rPr lang="en-US" sz="1300" dirty="0">
                <a:solidFill>
                  <a:srgbClr val="DCEEE4"/>
                </a:solidFill>
                <a:latin typeface="Consolas" pitchFamily="34" charset="0"/>
                <a:ea typeface="Consolas" pitchFamily="34" charset="-122"/>
                <a:cs typeface="Consolas" pitchFamily="34" charset="-120"/>
              </a:rPr>
              <a:t>   opens the condor gate</a:t>
            </a:r>
            <a:endParaRPr lang="en-US" sz="1300" dirty="0"/>
          </a:p>
        </p:txBody>
      </p:sp>
      <p:sp>
        <p:nvSpPr>
          <p:cNvPr id="15" name="Shape 13"/>
          <p:cNvSpPr/>
          <p:nvPr/>
        </p:nvSpPr>
        <p:spPr>
          <a:xfrm>
            <a:off x="6172200" y="3886200"/>
            <a:ext cx="5349240" cy="2194560"/>
          </a:xfrm>
          <a:prstGeom prst="roundRect">
            <a:avLst>
              <a:gd name="adj" fmla="val 2500"/>
            </a:avLst>
          </a:prstGeom>
          <a:solidFill>
            <a:srgbClr val="FFFFFF"/>
          </a:solidFill>
          <a:ln w="12700">
            <a:solidFill>
              <a:srgbClr val="E4DDD0"/>
            </a:solidFill>
            <a:prstDash val="solid"/>
          </a:ln>
          <a:effectLst>
            <a:outerShdw sx="100000" sy="100000" kx="0" ky="0" algn="bl" rotWithShape="0" blurRad="76200" dist="38100" dir="8100000">
              <a:srgbClr val="000000">
                <a:alpha val="12000"/>
              </a:srgbClr>
            </a:outerShdw>
          </a:effectLst>
        </p:spPr>
      </p:sp>
      <p:sp>
        <p:nvSpPr>
          <p:cNvPr id="16" name="Text 14"/>
          <p:cNvSpPr/>
          <p:nvPr/>
        </p:nvSpPr>
        <p:spPr>
          <a:xfrm>
            <a:off x="6446520" y="4041648"/>
            <a:ext cx="4754880" cy="274320"/>
          </a:xfrm>
          <a:prstGeom prst="rect">
            <a:avLst/>
          </a:prstGeom>
          <a:noFill/>
          <a:ln/>
        </p:spPr>
        <p:txBody>
          <a:bodyPr wrap="square" rtlCol="0" anchor="ctr"/>
          <a:lstStyle/>
          <a:p>
            <a:pPr indent="0" marL="0">
              <a:buNone/>
            </a:pPr>
            <a:r>
              <a:rPr lang="en-US" sz="1000" b="1" spc="100" kern="0" dirty="0">
                <a:solidFill>
                  <a:srgbClr val="1F6B4A"/>
                </a:solidFill>
                <a:latin typeface="Consolas" pitchFamily="34" charset="0"/>
                <a:ea typeface="Consolas" pitchFamily="34" charset="-122"/>
                <a:cs typeface="Consolas" pitchFamily="34" charset="-120"/>
              </a:rPr>
              <a:t>WHY THIS ROLE</a:t>
            </a:r>
            <a:endParaRPr lang="en-US" sz="1000" dirty="0"/>
          </a:p>
        </p:txBody>
      </p:sp>
      <p:sp>
        <p:nvSpPr>
          <p:cNvPr id="17" name="Text 15"/>
          <p:cNvSpPr/>
          <p:nvPr/>
        </p:nvSpPr>
        <p:spPr>
          <a:xfrm>
            <a:off x="6446520" y="4343400"/>
            <a:ext cx="4846320" cy="1600200"/>
          </a:xfrm>
          <a:prstGeom prst="rect">
            <a:avLst/>
          </a:prstGeom>
          <a:noFill/>
          <a:ln/>
        </p:spPr>
        <p:txBody>
          <a:bodyPr wrap="square" rtlCol="0" anchor="t"/>
          <a:lstStyle/>
          <a:p>
            <a:pPr indent="0" marL="0">
              <a:lnSpc>
                <a:spcPct val="120000"/>
              </a:lnSpc>
              <a:buNone/>
            </a:pPr>
            <a:r>
              <a:rPr lang="en-US" sz="1300" dirty="0">
                <a:solidFill>
                  <a:srgbClr val="1C2620"/>
                </a:solidFill>
                <a:latin typeface="Calibri" pitchFamily="34" charset="0"/>
                <a:ea typeface="Calibri" pitchFamily="34" charset="-122"/>
                <a:cs typeface="Calibri" pitchFamily="34" charset="-120"/>
              </a:rPr>
              <a:t>DRIVES because strong, concentrated walls signal range-bound behaviour — exactly when selling premium on both sides (a condor) pays. The wall strength is the biggest single input to the confidence score.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1E8"/>
        </a:solidFill>
      </p:bgPr>
    </p:bg>
    <p:spTree>
      <p:nvGrpSpPr>
        <p:cNvPr id="1" name=""/>
        <p:cNvGrpSpPr/>
        <p:nvPr/>
      </p:nvGrpSpPr>
      <p:grpSpPr>
        <a:xfrm>
          <a:off x="0" y="0"/>
          <a:ext cx="0" cy="0"/>
          <a:chOff x="0" y="0"/>
          <a:chExt cx="0" cy="0"/>
        </a:xfrm>
      </p:grpSpPr>
      <p:sp>
        <p:nvSpPr>
          <p:cNvPr id="2" name="Text 0"/>
          <p:cNvSpPr/>
          <p:nvPr/>
        </p:nvSpPr>
        <p:spPr>
          <a:xfrm>
            <a:off x="640080" y="411480"/>
            <a:ext cx="10515600" cy="274320"/>
          </a:xfrm>
          <a:prstGeom prst="rect">
            <a:avLst/>
          </a:prstGeom>
          <a:noFill/>
          <a:ln/>
        </p:spPr>
        <p:txBody>
          <a:bodyPr wrap="square" rtlCol="0" anchor="ctr"/>
          <a:lstStyle/>
          <a:p>
            <a:pPr indent="0" marL="0">
              <a:buNone/>
            </a:pPr>
            <a:r>
              <a:rPr lang="en-US" sz="1100" b="1" spc="300" kern="0" dirty="0">
                <a:solidFill>
                  <a:srgbClr val="1F6B4A"/>
                </a:solidFill>
                <a:latin typeface="Consolas" pitchFamily="34" charset="0"/>
                <a:ea typeface="Consolas" pitchFamily="34" charset="-122"/>
                <a:cs typeface="Consolas" pitchFamily="34" charset="-120"/>
              </a:rPr>
              <a:t>INDICATOR 7 OF 10 · LIQUIDITY</a:t>
            </a:r>
            <a:endParaRPr lang="en-US" sz="1100" dirty="0"/>
          </a:p>
        </p:txBody>
      </p:sp>
      <p:sp>
        <p:nvSpPr>
          <p:cNvPr id="3" name="Text 1"/>
          <p:cNvSpPr/>
          <p:nvPr/>
        </p:nvSpPr>
        <p:spPr>
          <a:xfrm>
            <a:off x="640080" y="694944"/>
            <a:ext cx="11064240" cy="640080"/>
          </a:xfrm>
          <a:prstGeom prst="rect">
            <a:avLst/>
          </a:prstGeom>
          <a:noFill/>
          <a:ln/>
        </p:spPr>
        <p:txBody>
          <a:bodyPr wrap="square" rtlCol="0" anchor="ctr"/>
          <a:lstStyle/>
          <a:p>
            <a:pPr indent="0" marL="0">
              <a:buNone/>
            </a:pPr>
            <a:r>
              <a:rPr lang="en-US" sz="2700" b="1" dirty="0">
                <a:solidFill>
                  <a:srgbClr val="1C2620"/>
                </a:solidFill>
                <a:latin typeface="Georgia" pitchFamily="34" charset="0"/>
                <a:ea typeface="Georgia" pitchFamily="34" charset="-122"/>
                <a:cs typeface="Georgia" pitchFamily="34" charset="-120"/>
              </a:rPr>
              <a:t>Open Interest</a:t>
            </a:r>
            <a:endParaRPr lang="en-US" sz="2700" dirty="0"/>
          </a:p>
        </p:txBody>
      </p:sp>
      <p:sp>
        <p:nvSpPr>
          <p:cNvPr id="4" name="Shape 2"/>
          <p:cNvSpPr/>
          <p:nvPr/>
        </p:nvSpPr>
        <p:spPr>
          <a:xfrm>
            <a:off x="9052560" y="749808"/>
            <a:ext cx="961949" cy="384048"/>
          </a:xfrm>
          <a:prstGeom prst="roundRect">
            <a:avLst>
              <a:gd name="adj" fmla="val 50000"/>
            </a:avLst>
          </a:prstGeom>
          <a:solidFill>
            <a:srgbClr val="1F6B4A"/>
          </a:solidFill>
          <a:ln/>
        </p:spPr>
      </p:sp>
      <p:sp>
        <p:nvSpPr>
          <p:cNvPr id="5" name="Text 3"/>
          <p:cNvSpPr/>
          <p:nvPr/>
        </p:nvSpPr>
        <p:spPr>
          <a:xfrm>
            <a:off x="9052560" y="749808"/>
            <a:ext cx="961949" cy="384048"/>
          </a:xfrm>
          <a:prstGeom prst="rect">
            <a:avLst/>
          </a:prstGeom>
          <a:noFill/>
          <a:ln/>
        </p:spPr>
        <p:txBody>
          <a:bodyPr wrap="square" rtlCol="0" anchor="ctr"/>
          <a:lstStyle/>
          <a:p>
            <a:pPr algn="ctr" indent="0" marL="0">
              <a:buNone/>
            </a:pPr>
            <a:r>
              <a:rPr lang="en-US" sz="1100" b="1" spc="100" kern="0" dirty="0">
                <a:solidFill>
                  <a:srgbClr val="FFFFFF"/>
                </a:solidFill>
                <a:latin typeface="Consolas" pitchFamily="34" charset="0"/>
                <a:ea typeface="Consolas" pitchFamily="34" charset="-122"/>
                <a:cs typeface="Consolas" pitchFamily="34" charset="-120"/>
              </a:rPr>
              <a:t>DRIVES</a:t>
            </a:r>
            <a:endParaRPr lang="en-US" sz="1100" dirty="0"/>
          </a:p>
        </p:txBody>
      </p:sp>
      <p:sp>
        <p:nvSpPr>
          <p:cNvPr id="6" name="Text 4"/>
          <p:cNvSpPr/>
          <p:nvPr/>
        </p:nvSpPr>
        <p:spPr>
          <a:xfrm>
            <a:off x="640080" y="1417320"/>
            <a:ext cx="10789920" cy="457200"/>
          </a:xfrm>
          <a:prstGeom prst="rect">
            <a:avLst/>
          </a:prstGeom>
          <a:noFill/>
          <a:ln/>
        </p:spPr>
        <p:txBody>
          <a:bodyPr wrap="square" rtlCol="0" anchor="ctr"/>
          <a:lstStyle/>
          <a:p>
            <a:pPr indent="0" marL="0">
              <a:buNone/>
            </a:pPr>
            <a:r>
              <a:rPr lang="en-US" sz="1500" i="1" dirty="0">
                <a:solidFill>
                  <a:srgbClr val="1C2620"/>
                </a:solidFill>
                <a:latin typeface="Calibri" pitchFamily="34" charset="0"/>
                <a:ea typeface="Calibri" pitchFamily="34" charset="-122"/>
                <a:cs typeface="Calibri" pitchFamily="34" charset="-120"/>
              </a:rPr>
              <a:t>Position depth — are there enough contracts for the walls to mean anything?</a:t>
            </a:r>
            <a:endParaRPr lang="en-US" sz="1500" dirty="0"/>
          </a:p>
        </p:txBody>
      </p:sp>
      <p:sp>
        <p:nvSpPr>
          <p:cNvPr id="7" name="Shape 5"/>
          <p:cNvSpPr/>
          <p:nvPr/>
        </p:nvSpPr>
        <p:spPr>
          <a:xfrm>
            <a:off x="640080" y="1965960"/>
            <a:ext cx="5349240" cy="4114800"/>
          </a:xfrm>
          <a:prstGeom prst="roundRect">
            <a:avLst>
              <a:gd name="adj" fmla="val 1333"/>
            </a:avLst>
          </a:prstGeom>
          <a:solidFill>
            <a:srgbClr val="FFFFFF"/>
          </a:solidFill>
          <a:ln w="12700">
            <a:solidFill>
              <a:srgbClr val="E4DDD0"/>
            </a:solidFill>
            <a:prstDash val="solid"/>
          </a:ln>
          <a:effectLst>
            <a:outerShdw sx="100000" sy="100000" kx="0" ky="0" algn="bl" rotWithShape="0" blurRad="76200" dist="38100" dir="8100000">
              <a:srgbClr val="000000">
                <a:alpha val="12000"/>
              </a:srgbClr>
            </a:outerShdw>
          </a:effectLst>
        </p:spPr>
      </p:sp>
      <p:sp>
        <p:nvSpPr>
          <p:cNvPr id="8" name="Text 6"/>
          <p:cNvSpPr/>
          <p:nvPr/>
        </p:nvSpPr>
        <p:spPr>
          <a:xfrm>
            <a:off x="914400" y="2121408"/>
            <a:ext cx="4754880" cy="274320"/>
          </a:xfrm>
          <a:prstGeom prst="rect">
            <a:avLst/>
          </a:prstGeom>
          <a:noFill/>
          <a:ln/>
        </p:spPr>
        <p:txBody>
          <a:bodyPr wrap="square" rtlCol="0" anchor="ctr"/>
          <a:lstStyle/>
          <a:p>
            <a:pPr indent="0" marL="0">
              <a:buNone/>
            </a:pPr>
            <a:r>
              <a:rPr lang="en-US" sz="1000" b="1" spc="100" kern="0" dirty="0">
                <a:solidFill>
                  <a:srgbClr val="1F6B4A"/>
                </a:solidFill>
                <a:latin typeface="Consolas" pitchFamily="34" charset="0"/>
                <a:ea typeface="Consolas" pitchFamily="34" charset="-122"/>
                <a:cs typeface="Consolas" pitchFamily="34" charset="-120"/>
              </a:rPr>
              <a:t>WHAT IT MEASURES</a:t>
            </a:r>
            <a:endParaRPr lang="en-US" sz="1000" dirty="0"/>
          </a:p>
        </p:txBody>
      </p:sp>
      <p:sp>
        <p:nvSpPr>
          <p:cNvPr id="9" name="Text 7"/>
          <p:cNvSpPr/>
          <p:nvPr/>
        </p:nvSpPr>
        <p:spPr>
          <a:xfrm>
            <a:off x="914400" y="2423160"/>
            <a:ext cx="4846320" cy="1143000"/>
          </a:xfrm>
          <a:prstGeom prst="rect">
            <a:avLst/>
          </a:prstGeom>
          <a:noFill/>
          <a:ln/>
        </p:spPr>
        <p:txBody>
          <a:bodyPr wrap="square" rtlCol="0" anchor="t"/>
          <a:lstStyle/>
          <a:p>
            <a:pPr indent="0" marL="0">
              <a:lnSpc>
                <a:spcPct val="120000"/>
              </a:lnSpc>
              <a:buNone/>
            </a:pPr>
            <a:r>
              <a:rPr lang="en-US" sz="1350" dirty="0">
                <a:solidFill>
                  <a:srgbClr val="1C2620"/>
                </a:solidFill>
                <a:latin typeface="Calibri" pitchFamily="34" charset="0"/>
                <a:ea typeface="Calibri" pitchFamily="34" charset="-122"/>
                <a:cs typeface="Calibri" pitchFamily="34" charset="-120"/>
              </a:rPr>
              <a:t>The number of outstanding option contracts at each strike. High OI = real positioning; thin OI = walls are noise.</a:t>
            </a:r>
            <a:endParaRPr lang="en-US" sz="1350" dirty="0"/>
          </a:p>
        </p:txBody>
      </p:sp>
      <p:sp>
        <p:nvSpPr>
          <p:cNvPr id="10" name="Text 8"/>
          <p:cNvSpPr/>
          <p:nvPr/>
        </p:nvSpPr>
        <p:spPr>
          <a:xfrm>
            <a:off x="914400" y="3611880"/>
            <a:ext cx="4754880" cy="274320"/>
          </a:xfrm>
          <a:prstGeom prst="rect">
            <a:avLst/>
          </a:prstGeom>
          <a:noFill/>
          <a:ln/>
        </p:spPr>
        <p:txBody>
          <a:bodyPr wrap="square" rtlCol="0" anchor="ctr"/>
          <a:lstStyle/>
          <a:p>
            <a:pPr indent="0" marL="0">
              <a:buNone/>
            </a:pPr>
            <a:r>
              <a:rPr lang="en-US" sz="1000" b="1" spc="100" kern="0" dirty="0">
                <a:solidFill>
                  <a:srgbClr val="1F6B4A"/>
                </a:solidFill>
                <a:latin typeface="Consolas" pitchFamily="34" charset="0"/>
                <a:ea typeface="Consolas" pitchFamily="34" charset="-122"/>
                <a:cs typeface="Consolas" pitchFamily="34" charset="-120"/>
              </a:rPr>
              <a:t>HOW IT'S COMPUTED</a:t>
            </a:r>
            <a:endParaRPr lang="en-US" sz="1000" dirty="0"/>
          </a:p>
        </p:txBody>
      </p:sp>
      <p:sp>
        <p:nvSpPr>
          <p:cNvPr id="11" name="Text 9"/>
          <p:cNvSpPr/>
          <p:nvPr/>
        </p:nvSpPr>
        <p:spPr>
          <a:xfrm>
            <a:off x="914400" y="3913632"/>
            <a:ext cx="4846320" cy="2011680"/>
          </a:xfrm>
          <a:prstGeom prst="rect">
            <a:avLst/>
          </a:prstGeom>
          <a:noFill/>
          <a:ln/>
        </p:spPr>
        <p:txBody>
          <a:bodyPr wrap="square" rtlCol="0" anchor="t"/>
          <a:lstStyle/>
          <a:p>
            <a:pPr indent="0" marL="0">
              <a:lnSpc>
                <a:spcPct val="120000"/>
              </a:lnSpc>
              <a:buNone/>
            </a:pPr>
            <a:r>
              <a:rPr lang="en-US" sz="1300" dirty="0">
                <a:solidFill>
                  <a:srgbClr val="1C2620"/>
                </a:solidFill>
                <a:latin typeface="Calibri" pitchFamily="34" charset="0"/>
                <a:ea typeface="Calibri" pitchFamily="34" charset="-122"/>
                <a:cs typeface="Calibri" pitchFamily="34" charset="-120"/>
              </a:rPr>
              <a:t>Fetched per expiry from Nasdaq's public API (Yahoo as fallback). Coverage — how many strikes actually have OI — drives the OI confidence component.</a:t>
            </a:r>
            <a:endParaRPr lang="en-US" sz="1300" dirty="0"/>
          </a:p>
        </p:txBody>
      </p:sp>
      <p:sp>
        <p:nvSpPr>
          <p:cNvPr id="12" name="Shape 10"/>
          <p:cNvSpPr/>
          <p:nvPr/>
        </p:nvSpPr>
        <p:spPr>
          <a:xfrm>
            <a:off x="6172200" y="1965960"/>
            <a:ext cx="5349240" cy="1783080"/>
          </a:xfrm>
          <a:prstGeom prst="roundRect">
            <a:avLst>
              <a:gd name="adj" fmla="val 3077"/>
            </a:avLst>
          </a:prstGeom>
          <a:solidFill>
            <a:srgbClr val="0F2A1F"/>
          </a:solidFill>
          <a:ln/>
        </p:spPr>
      </p:sp>
      <p:sp>
        <p:nvSpPr>
          <p:cNvPr id="13" name="Text 11"/>
          <p:cNvSpPr/>
          <p:nvPr/>
        </p:nvSpPr>
        <p:spPr>
          <a:xfrm>
            <a:off x="6446520" y="2121408"/>
            <a:ext cx="4754880" cy="274320"/>
          </a:xfrm>
          <a:prstGeom prst="rect">
            <a:avLst/>
          </a:prstGeom>
          <a:noFill/>
          <a:ln/>
        </p:spPr>
        <p:txBody>
          <a:bodyPr wrap="square" rtlCol="0" anchor="ctr"/>
          <a:lstStyle/>
          <a:p>
            <a:pPr indent="0" marL="0">
              <a:buNone/>
            </a:pPr>
            <a:r>
              <a:rPr lang="en-US" sz="1000" b="1" spc="100" kern="0" dirty="0">
                <a:solidFill>
                  <a:srgbClr val="CAA12F"/>
                </a:solidFill>
                <a:latin typeface="Consolas" pitchFamily="34" charset="0"/>
                <a:ea typeface="Consolas" pitchFamily="34" charset="-122"/>
                <a:cs typeface="Consolas" pitchFamily="34" charset="-120"/>
              </a:rPr>
              <a:t>THRESHOLDS / VALUES</a:t>
            </a:r>
            <a:endParaRPr lang="en-US" sz="1000" dirty="0"/>
          </a:p>
        </p:txBody>
      </p:sp>
      <p:sp>
        <p:nvSpPr>
          <p:cNvPr id="14" name="Text 12"/>
          <p:cNvSpPr/>
          <p:nvPr/>
        </p:nvSpPr>
        <p:spPr>
          <a:xfrm>
            <a:off x="6446520" y="2423160"/>
            <a:ext cx="4846320" cy="1234440"/>
          </a:xfrm>
          <a:prstGeom prst="rect">
            <a:avLst/>
          </a:prstGeom>
          <a:noFill/>
          <a:ln/>
        </p:spPr>
        <p:txBody>
          <a:bodyPr wrap="square" rtlCol="0" anchor="t"/>
          <a:lstStyle/>
          <a:p>
            <a:pPr indent="0" marL="0">
              <a:lnSpc>
                <a:spcPct val="130000"/>
              </a:lnSpc>
              <a:buNone/>
            </a:pPr>
            <a:r>
              <a:rPr lang="en-US" sz="1300" dirty="0">
                <a:solidFill>
                  <a:srgbClr val="DCEEE4"/>
                </a:solidFill>
                <a:latin typeface="Consolas" pitchFamily="34" charset="0"/>
                <a:ea typeface="Consolas" pitchFamily="34" charset="-122"/>
                <a:cs typeface="Consolas" pitchFamily="34" charset="-120"/>
              </a:rPr>
              <a:t>OI confidence =</a:t>
            </a:r>
            <a:endParaRPr lang="en-US" sz="1300" dirty="0"/>
          </a:p>
          <a:p>
            <a:pPr indent="0" marL="0">
              <a:lnSpc>
                <a:spcPct val="130000"/>
              </a:lnSpc>
              <a:buNone/>
            </a:pPr>
            <a:r>
              <a:rPr lang="en-US" sz="1300" dirty="0">
                <a:solidFill>
                  <a:srgbClr val="DCEEE4"/>
                </a:solidFill>
                <a:latin typeface="Consolas" pitchFamily="34" charset="0"/>
                <a:ea typeface="Consolas" pitchFamily="34" charset="-122"/>
                <a:cs typeface="Consolas" pitchFamily="34" charset="-120"/>
              </a:rPr>
              <a:t>40% of blended confidence</a:t>
            </a:r>
            <a:endParaRPr lang="en-US" sz="1300" dirty="0"/>
          </a:p>
          <a:p>
            <a:pPr indent="0" marL="0">
              <a:lnSpc>
                <a:spcPct val="130000"/>
              </a:lnSpc>
              <a:buNone/>
            </a:pPr>
            <a:endParaRPr lang="en-US" sz="1300" dirty="0"/>
          </a:p>
          <a:p>
            <a:pPr indent="0" marL="0">
              <a:lnSpc>
                <a:spcPct val="130000"/>
              </a:lnSpc>
              <a:buNone/>
            </a:pPr>
            <a:r>
              <a:rPr lang="en-US" sz="1300" dirty="0">
                <a:solidFill>
                  <a:srgbClr val="DCEEE4"/>
                </a:solidFill>
                <a:latin typeface="Consolas" pitchFamily="34" charset="0"/>
                <a:ea typeface="Consolas" pitchFamily="34" charset="-122"/>
                <a:cs typeface="Consolas" pitchFamily="34" charset="-120"/>
              </a:rPr>
              <a:t>the LARGEST single weight</a:t>
            </a:r>
            <a:endParaRPr lang="en-US" sz="1300" dirty="0"/>
          </a:p>
          <a:p>
            <a:pPr indent="0" marL="0">
              <a:lnSpc>
                <a:spcPct val="130000"/>
              </a:lnSpc>
              <a:buNone/>
            </a:pPr>
            <a:r>
              <a:rPr lang="en-US" sz="1300" dirty="0">
                <a:solidFill>
                  <a:srgbClr val="DCEEE4"/>
                </a:solidFill>
                <a:latin typeface="Consolas" pitchFamily="34" charset="0"/>
                <a:ea typeface="Consolas" pitchFamily="34" charset="-122"/>
                <a:cs typeface="Consolas" pitchFamily="34" charset="-120"/>
              </a:rPr>
              <a:t>— liquidity underpins</a:t>
            </a:r>
            <a:endParaRPr lang="en-US" sz="1300" dirty="0"/>
          </a:p>
          <a:p>
            <a:pPr indent="0" marL="0">
              <a:lnSpc>
                <a:spcPct val="130000"/>
              </a:lnSpc>
              <a:buNone/>
            </a:pPr>
            <a:r>
              <a:rPr lang="en-US" sz="1300" dirty="0">
                <a:solidFill>
                  <a:srgbClr val="DCEEE4"/>
                </a:solidFill>
                <a:latin typeface="Consolas" pitchFamily="34" charset="0"/>
                <a:ea typeface="Consolas" pitchFamily="34" charset="-122"/>
                <a:cs typeface="Consolas" pitchFamily="34" charset="-120"/>
              </a:rPr>
              <a:t>everything else</a:t>
            </a:r>
            <a:endParaRPr lang="en-US" sz="1300" dirty="0"/>
          </a:p>
        </p:txBody>
      </p:sp>
      <p:sp>
        <p:nvSpPr>
          <p:cNvPr id="15" name="Shape 13"/>
          <p:cNvSpPr/>
          <p:nvPr/>
        </p:nvSpPr>
        <p:spPr>
          <a:xfrm>
            <a:off x="6172200" y="3886200"/>
            <a:ext cx="5349240" cy="2194560"/>
          </a:xfrm>
          <a:prstGeom prst="roundRect">
            <a:avLst>
              <a:gd name="adj" fmla="val 2500"/>
            </a:avLst>
          </a:prstGeom>
          <a:solidFill>
            <a:srgbClr val="FFFFFF"/>
          </a:solidFill>
          <a:ln w="12700">
            <a:solidFill>
              <a:srgbClr val="E4DDD0"/>
            </a:solidFill>
            <a:prstDash val="solid"/>
          </a:ln>
          <a:effectLst>
            <a:outerShdw sx="100000" sy="100000" kx="0" ky="0" algn="bl" rotWithShape="0" blurRad="76200" dist="38100" dir="8100000">
              <a:srgbClr val="000000">
                <a:alpha val="12000"/>
              </a:srgbClr>
            </a:outerShdw>
          </a:effectLst>
        </p:spPr>
      </p:sp>
      <p:sp>
        <p:nvSpPr>
          <p:cNvPr id="16" name="Text 14"/>
          <p:cNvSpPr/>
          <p:nvPr/>
        </p:nvSpPr>
        <p:spPr>
          <a:xfrm>
            <a:off x="6446520" y="4041648"/>
            <a:ext cx="4754880" cy="274320"/>
          </a:xfrm>
          <a:prstGeom prst="rect">
            <a:avLst/>
          </a:prstGeom>
          <a:noFill/>
          <a:ln/>
        </p:spPr>
        <p:txBody>
          <a:bodyPr wrap="square" rtlCol="0" anchor="ctr"/>
          <a:lstStyle/>
          <a:p>
            <a:pPr indent="0" marL="0">
              <a:buNone/>
            </a:pPr>
            <a:r>
              <a:rPr lang="en-US" sz="1000" b="1" spc="100" kern="0" dirty="0">
                <a:solidFill>
                  <a:srgbClr val="1F6B4A"/>
                </a:solidFill>
                <a:latin typeface="Consolas" pitchFamily="34" charset="0"/>
                <a:ea typeface="Consolas" pitchFamily="34" charset="-122"/>
                <a:cs typeface="Consolas" pitchFamily="34" charset="-120"/>
              </a:rPr>
              <a:t>WHY THIS ROLE</a:t>
            </a:r>
            <a:endParaRPr lang="en-US" sz="1000" dirty="0"/>
          </a:p>
        </p:txBody>
      </p:sp>
      <p:sp>
        <p:nvSpPr>
          <p:cNvPr id="17" name="Text 15"/>
          <p:cNvSpPr/>
          <p:nvPr/>
        </p:nvSpPr>
        <p:spPr>
          <a:xfrm>
            <a:off x="6446520" y="4343400"/>
            <a:ext cx="4846320" cy="1600200"/>
          </a:xfrm>
          <a:prstGeom prst="rect">
            <a:avLst/>
          </a:prstGeom>
          <a:noFill/>
          <a:ln/>
        </p:spPr>
        <p:txBody>
          <a:bodyPr wrap="square" rtlCol="0" anchor="t"/>
          <a:lstStyle/>
          <a:p>
            <a:pPr indent="0" marL="0">
              <a:lnSpc>
                <a:spcPct val="120000"/>
              </a:lnSpc>
              <a:buNone/>
            </a:pPr>
            <a:r>
              <a:rPr lang="en-US" sz="1300" dirty="0">
                <a:solidFill>
                  <a:srgbClr val="1C2620"/>
                </a:solidFill>
                <a:latin typeface="Calibri" pitchFamily="34" charset="0"/>
                <a:ea typeface="Calibri" pitchFamily="34" charset="-122"/>
                <a:cs typeface="Calibri" pitchFamily="34" charset="-120"/>
              </a:rPr>
              <a:t>DRIVES, and it's the anchor (40% of confidence). Without enough open interest, the gamma walls are meaningless — so liquidity gates how much we trust every other gamma signal.</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1E8"/>
        </a:solidFill>
      </p:bgPr>
    </p:bg>
    <p:spTree>
      <p:nvGrpSpPr>
        <p:cNvPr id="1" name=""/>
        <p:cNvGrpSpPr/>
        <p:nvPr/>
      </p:nvGrpSpPr>
      <p:grpSpPr>
        <a:xfrm>
          <a:off x="0" y="0"/>
          <a:ext cx="0" cy="0"/>
          <a:chOff x="0" y="0"/>
          <a:chExt cx="0" cy="0"/>
        </a:xfrm>
      </p:grpSpPr>
      <p:sp>
        <p:nvSpPr>
          <p:cNvPr id="2" name="Text 0"/>
          <p:cNvSpPr/>
          <p:nvPr/>
        </p:nvSpPr>
        <p:spPr>
          <a:xfrm>
            <a:off x="640080" y="411480"/>
            <a:ext cx="10515600" cy="274320"/>
          </a:xfrm>
          <a:prstGeom prst="rect">
            <a:avLst/>
          </a:prstGeom>
          <a:noFill/>
          <a:ln/>
        </p:spPr>
        <p:txBody>
          <a:bodyPr wrap="square" rtlCol="0" anchor="ctr"/>
          <a:lstStyle/>
          <a:p>
            <a:pPr indent="0" marL="0">
              <a:buNone/>
            </a:pPr>
            <a:r>
              <a:rPr lang="en-US" sz="1100" b="1" spc="300" kern="0" dirty="0">
                <a:solidFill>
                  <a:srgbClr val="1F6B4A"/>
                </a:solidFill>
                <a:latin typeface="Consolas" pitchFamily="34" charset="0"/>
                <a:ea typeface="Consolas" pitchFamily="34" charset="-122"/>
                <a:cs typeface="Consolas" pitchFamily="34" charset="-120"/>
              </a:rPr>
              <a:t>INDICATOR 8 OF 10 · ACTIVITY</a:t>
            </a:r>
            <a:endParaRPr lang="en-US" sz="1100" dirty="0"/>
          </a:p>
        </p:txBody>
      </p:sp>
      <p:sp>
        <p:nvSpPr>
          <p:cNvPr id="3" name="Text 1"/>
          <p:cNvSpPr/>
          <p:nvPr/>
        </p:nvSpPr>
        <p:spPr>
          <a:xfrm>
            <a:off x="640080" y="694944"/>
            <a:ext cx="11064240" cy="640080"/>
          </a:xfrm>
          <a:prstGeom prst="rect">
            <a:avLst/>
          </a:prstGeom>
          <a:noFill/>
          <a:ln/>
        </p:spPr>
        <p:txBody>
          <a:bodyPr wrap="square" rtlCol="0" anchor="ctr"/>
          <a:lstStyle/>
          <a:p>
            <a:pPr indent="0" marL="0">
              <a:buNone/>
            </a:pPr>
            <a:r>
              <a:rPr lang="en-US" sz="2700" b="1" dirty="0">
                <a:solidFill>
                  <a:srgbClr val="1C2620"/>
                </a:solidFill>
                <a:latin typeface="Georgia" pitchFamily="34" charset="0"/>
                <a:ea typeface="Georgia" pitchFamily="34" charset="-122"/>
                <a:cs typeface="Georgia" pitchFamily="34" charset="-120"/>
              </a:rPr>
              <a:t>Volume</a:t>
            </a:r>
            <a:endParaRPr lang="en-US" sz="2700" dirty="0"/>
          </a:p>
        </p:txBody>
      </p:sp>
      <p:sp>
        <p:nvSpPr>
          <p:cNvPr id="4" name="Shape 2"/>
          <p:cNvSpPr/>
          <p:nvPr/>
        </p:nvSpPr>
        <p:spPr>
          <a:xfrm>
            <a:off x="9052560" y="749808"/>
            <a:ext cx="961949" cy="384048"/>
          </a:xfrm>
          <a:prstGeom prst="roundRect">
            <a:avLst>
              <a:gd name="adj" fmla="val 50000"/>
            </a:avLst>
          </a:prstGeom>
          <a:solidFill>
            <a:srgbClr val="1F6B4A"/>
          </a:solidFill>
          <a:ln/>
        </p:spPr>
      </p:sp>
      <p:sp>
        <p:nvSpPr>
          <p:cNvPr id="5" name="Text 3"/>
          <p:cNvSpPr/>
          <p:nvPr/>
        </p:nvSpPr>
        <p:spPr>
          <a:xfrm>
            <a:off x="9052560" y="749808"/>
            <a:ext cx="961949" cy="384048"/>
          </a:xfrm>
          <a:prstGeom prst="rect">
            <a:avLst/>
          </a:prstGeom>
          <a:noFill/>
          <a:ln/>
        </p:spPr>
        <p:txBody>
          <a:bodyPr wrap="square" rtlCol="0" anchor="ctr"/>
          <a:lstStyle/>
          <a:p>
            <a:pPr algn="ctr" indent="0" marL="0">
              <a:buNone/>
            </a:pPr>
            <a:r>
              <a:rPr lang="en-US" sz="1100" b="1" spc="100" kern="0" dirty="0">
                <a:solidFill>
                  <a:srgbClr val="FFFFFF"/>
                </a:solidFill>
                <a:latin typeface="Consolas" pitchFamily="34" charset="0"/>
                <a:ea typeface="Consolas" pitchFamily="34" charset="-122"/>
                <a:cs typeface="Consolas" pitchFamily="34" charset="-120"/>
              </a:rPr>
              <a:t>DRIVES</a:t>
            </a:r>
            <a:endParaRPr lang="en-US" sz="1100" dirty="0"/>
          </a:p>
        </p:txBody>
      </p:sp>
      <p:sp>
        <p:nvSpPr>
          <p:cNvPr id="6" name="Text 4"/>
          <p:cNvSpPr/>
          <p:nvPr/>
        </p:nvSpPr>
        <p:spPr>
          <a:xfrm>
            <a:off x="640080" y="1417320"/>
            <a:ext cx="10789920" cy="457200"/>
          </a:xfrm>
          <a:prstGeom prst="rect">
            <a:avLst/>
          </a:prstGeom>
          <a:noFill/>
          <a:ln/>
        </p:spPr>
        <p:txBody>
          <a:bodyPr wrap="square" rtlCol="0" anchor="ctr"/>
          <a:lstStyle/>
          <a:p>
            <a:pPr indent="0" marL="0">
              <a:buNone/>
            </a:pPr>
            <a:r>
              <a:rPr lang="en-US" sz="1500" i="1" dirty="0">
                <a:solidFill>
                  <a:srgbClr val="1C2620"/>
                </a:solidFill>
                <a:latin typeface="Calibri" pitchFamily="34" charset="0"/>
                <a:ea typeface="Calibri" pitchFamily="34" charset="-122"/>
                <a:cs typeface="Calibri" pitchFamily="34" charset="-120"/>
              </a:rPr>
              <a:t>Trading activity — is the market actually trading these strikes today?</a:t>
            </a:r>
            <a:endParaRPr lang="en-US" sz="1500" dirty="0"/>
          </a:p>
        </p:txBody>
      </p:sp>
      <p:sp>
        <p:nvSpPr>
          <p:cNvPr id="7" name="Shape 5"/>
          <p:cNvSpPr/>
          <p:nvPr/>
        </p:nvSpPr>
        <p:spPr>
          <a:xfrm>
            <a:off x="640080" y="1965960"/>
            <a:ext cx="5349240" cy="4114800"/>
          </a:xfrm>
          <a:prstGeom prst="roundRect">
            <a:avLst>
              <a:gd name="adj" fmla="val 1333"/>
            </a:avLst>
          </a:prstGeom>
          <a:solidFill>
            <a:srgbClr val="FFFFFF"/>
          </a:solidFill>
          <a:ln w="12700">
            <a:solidFill>
              <a:srgbClr val="E4DDD0"/>
            </a:solidFill>
            <a:prstDash val="solid"/>
          </a:ln>
          <a:effectLst>
            <a:outerShdw sx="100000" sy="100000" kx="0" ky="0" algn="bl" rotWithShape="0" blurRad="76200" dist="38100" dir="8100000">
              <a:srgbClr val="000000">
                <a:alpha val="12000"/>
              </a:srgbClr>
            </a:outerShdw>
          </a:effectLst>
        </p:spPr>
      </p:sp>
      <p:sp>
        <p:nvSpPr>
          <p:cNvPr id="8" name="Text 6"/>
          <p:cNvSpPr/>
          <p:nvPr/>
        </p:nvSpPr>
        <p:spPr>
          <a:xfrm>
            <a:off x="914400" y="2121408"/>
            <a:ext cx="4754880" cy="274320"/>
          </a:xfrm>
          <a:prstGeom prst="rect">
            <a:avLst/>
          </a:prstGeom>
          <a:noFill/>
          <a:ln/>
        </p:spPr>
        <p:txBody>
          <a:bodyPr wrap="square" rtlCol="0" anchor="ctr"/>
          <a:lstStyle/>
          <a:p>
            <a:pPr indent="0" marL="0">
              <a:buNone/>
            </a:pPr>
            <a:r>
              <a:rPr lang="en-US" sz="1000" b="1" spc="100" kern="0" dirty="0">
                <a:solidFill>
                  <a:srgbClr val="1F6B4A"/>
                </a:solidFill>
                <a:latin typeface="Consolas" pitchFamily="34" charset="0"/>
                <a:ea typeface="Consolas" pitchFamily="34" charset="-122"/>
                <a:cs typeface="Consolas" pitchFamily="34" charset="-120"/>
              </a:rPr>
              <a:t>WHAT IT MEASURES</a:t>
            </a:r>
            <a:endParaRPr lang="en-US" sz="1000" dirty="0"/>
          </a:p>
        </p:txBody>
      </p:sp>
      <p:sp>
        <p:nvSpPr>
          <p:cNvPr id="9" name="Text 7"/>
          <p:cNvSpPr/>
          <p:nvPr/>
        </p:nvSpPr>
        <p:spPr>
          <a:xfrm>
            <a:off x="914400" y="2423160"/>
            <a:ext cx="4846320" cy="1143000"/>
          </a:xfrm>
          <a:prstGeom prst="rect">
            <a:avLst/>
          </a:prstGeom>
          <a:noFill/>
          <a:ln/>
        </p:spPr>
        <p:txBody>
          <a:bodyPr wrap="square" rtlCol="0" anchor="t"/>
          <a:lstStyle/>
          <a:p>
            <a:pPr indent="0" marL="0">
              <a:lnSpc>
                <a:spcPct val="120000"/>
              </a:lnSpc>
              <a:buNone/>
            </a:pPr>
            <a:r>
              <a:rPr lang="en-US" sz="1350" dirty="0">
                <a:solidFill>
                  <a:srgbClr val="1C2620"/>
                </a:solidFill>
                <a:latin typeface="Calibri" pitchFamily="34" charset="0"/>
                <a:ea typeface="Calibri" pitchFamily="34" charset="-122"/>
                <a:cs typeface="Calibri" pitchFamily="34" charset="-120"/>
              </a:rPr>
              <a:t>How many contracts (and shares) are actually changing hands. Confirms the positioning is live, not stale.</a:t>
            </a:r>
            <a:endParaRPr lang="en-US" sz="1350" dirty="0"/>
          </a:p>
        </p:txBody>
      </p:sp>
      <p:sp>
        <p:nvSpPr>
          <p:cNvPr id="10" name="Text 8"/>
          <p:cNvSpPr/>
          <p:nvPr/>
        </p:nvSpPr>
        <p:spPr>
          <a:xfrm>
            <a:off x="914400" y="3611880"/>
            <a:ext cx="4754880" cy="274320"/>
          </a:xfrm>
          <a:prstGeom prst="rect">
            <a:avLst/>
          </a:prstGeom>
          <a:noFill/>
          <a:ln/>
        </p:spPr>
        <p:txBody>
          <a:bodyPr wrap="square" rtlCol="0" anchor="ctr"/>
          <a:lstStyle/>
          <a:p>
            <a:pPr indent="0" marL="0">
              <a:buNone/>
            </a:pPr>
            <a:r>
              <a:rPr lang="en-US" sz="1000" b="1" spc="100" kern="0" dirty="0">
                <a:solidFill>
                  <a:srgbClr val="1F6B4A"/>
                </a:solidFill>
                <a:latin typeface="Consolas" pitchFamily="34" charset="0"/>
                <a:ea typeface="Consolas" pitchFamily="34" charset="-122"/>
                <a:cs typeface="Consolas" pitchFamily="34" charset="-120"/>
              </a:rPr>
              <a:t>HOW IT'S COMPUTED</a:t>
            </a:r>
            <a:endParaRPr lang="en-US" sz="1000" dirty="0"/>
          </a:p>
        </p:txBody>
      </p:sp>
      <p:sp>
        <p:nvSpPr>
          <p:cNvPr id="11" name="Text 9"/>
          <p:cNvSpPr/>
          <p:nvPr/>
        </p:nvSpPr>
        <p:spPr>
          <a:xfrm>
            <a:off x="914400" y="3913632"/>
            <a:ext cx="4846320" cy="2011680"/>
          </a:xfrm>
          <a:prstGeom prst="rect">
            <a:avLst/>
          </a:prstGeom>
          <a:noFill/>
          <a:ln/>
        </p:spPr>
        <p:txBody>
          <a:bodyPr wrap="square" rtlCol="0" anchor="t"/>
          <a:lstStyle/>
          <a:p>
            <a:pPr indent="0" marL="0">
              <a:lnSpc>
                <a:spcPct val="120000"/>
              </a:lnSpc>
              <a:buNone/>
            </a:pPr>
            <a:r>
              <a:rPr lang="en-US" sz="1300" dirty="0">
                <a:solidFill>
                  <a:srgbClr val="1C2620"/>
                </a:solidFill>
                <a:latin typeface="Calibri" pitchFamily="34" charset="0"/>
                <a:ea typeface="Calibri" pitchFamily="34" charset="-122"/>
                <a:cs typeface="Calibri" pitchFamily="34" charset="-120"/>
              </a:rPr>
              <a:t>Per-contract option volume + stock volume from Alpaca snapshots, averaged into a volume-confidence component.</a:t>
            </a:r>
            <a:endParaRPr lang="en-US" sz="1300" dirty="0"/>
          </a:p>
        </p:txBody>
      </p:sp>
      <p:sp>
        <p:nvSpPr>
          <p:cNvPr id="12" name="Shape 10"/>
          <p:cNvSpPr/>
          <p:nvPr/>
        </p:nvSpPr>
        <p:spPr>
          <a:xfrm>
            <a:off x="6172200" y="1965960"/>
            <a:ext cx="5349240" cy="1783080"/>
          </a:xfrm>
          <a:prstGeom prst="roundRect">
            <a:avLst>
              <a:gd name="adj" fmla="val 3077"/>
            </a:avLst>
          </a:prstGeom>
          <a:solidFill>
            <a:srgbClr val="0F2A1F"/>
          </a:solidFill>
          <a:ln/>
        </p:spPr>
      </p:sp>
      <p:sp>
        <p:nvSpPr>
          <p:cNvPr id="13" name="Text 11"/>
          <p:cNvSpPr/>
          <p:nvPr/>
        </p:nvSpPr>
        <p:spPr>
          <a:xfrm>
            <a:off x="6446520" y="2121408"/>
            <a:ext cx="4754880" cy="274320"/>
          </a:xfrm>
          <a:prstGeom prst="rect">
            <a:avLst/>
          </a:prstGeom>
          <a:noFill/>
          <a:ln/>
        </p:spPr>
        <p:txBody>
          <a:bodyPr wrap="square" rtlCol="0" anchor="ctr"/>
          <a:lstStyle/>
          <a:p>
            <a:pPr indent="0" marL="0">
              <a:buNone/>
            </a:pPr>
            <a:r>
              <a:rPr lang="en-US" sz="1000" b="1" spc="100" kern="0" dirty="0">
                <a:solidFill>
                  <a:srgbClr val="CAA12F"/>
                </a:solidFill>
                <a:latin typeface="Consolas" pitchFamily="34" charset="0"/>
                <a:ea typeface="Consolas" pitchFamily="34" charset="-122"/>
                <a:cs typeface="Consolas" pitchFamily="34" charset="-120"/>
              </a:rPr>
              <a:t>THRESHOLDS / VALUES</a:t>
            </a:r>
            <a:endParaRPr lang="en-US" sz="1000" dirty="0"/>
          </a:p>
        </p:txBody>
      </p:sp>
      <p:sp>
        <p:nvSpPr>
          <p:cNvPr id="14" name="Text 12"/>
          <p:cNvSpPr/>
          <p:nvPr/>
        </p:nvSpPr>
        <p:spPr>
          <a:xfrm>
            <a:off x="6446520" y="2423160"/>
            <a:ext cx="4846320" cy="1234440"/>
          </a:xfrm>
          <a:prstGeom prst="rect">
            <a:avLst/>
          </a:prstGeom>
          <a:noFill/>
          <a:ln/>
        </p:spPr>
        <p:txBody>
          <a:bodyPr wrap="square" rtlCol="0" anchor="t"/>
          <a:lstStyle/>
          <a:p>
            <a:pPr indent="0" marL="0">
              <a:lnSpc>
                <a:spcPct val="130000"/>
              </a:lnSpc>
              <a:buNone/>
            </a:pPr>
            <a:r>
              <a:rPr lang="en-US" sz="1300" dirty="0">
                <a:solidFill>
                  <a:srgbClr val="DCEEE4"/>
                </a:solidFill>
                <a:latin typeface="Consolas" pitchFamily="34" charset="0"/>
                <a:ea typeface="Consolas" pitchFamily="34" charset="-122"/>
                <a:cs typeface="Consolas" pitchFamily="34" charset="-120"/>
              </a:rPr>
              <a:t>Volume confidence =</a:t>
            </a:r>
            <a:endParaRPr lang="en-US" sz="1300" dirty="0"/>
          </a:p>
          <a:p>
            <a:pPr indent="0" marL="0">
              <a:lnSpc>
                <a:spcPct val="130000"/>
              </a:lnSpc>
              <a:buNone/>
            </a:pPr>
            <a:r>
              <a:rPr lang="en-US" sz="1300" dirty="0">
                <a:solidFill>
                  <a:srgbClr val="DCEEE4"/>
                </a:solidFill>
                <a:latin typeface="Consolas" pitchFamily="34" charset="0"/>
                <a:ea typeface="Consolas" pitchFamily="34" charset="-122"/>
                <a:cs typeface="Consolas" pitchFamily="34" charset="-120"/>
              </a:rPr>
              <a:t>10% of blended confidence</a:t>
            </a:r>
            <a:endParaRPr lang="en-US" sz="1300" dirty="0"/>
          </a:p>
          <a:p>
            <a:pPr indent="0" marL="0">
              <a:lnSpc>
                <a:spcPct val="130000"/>
              </a:lnSpc>
              <a:buNone/>
            </a:pPr>
            <a:endParaRPr lang="en-US" sz="1300" dirty="0"/>
          </a:p>
          <a:p>
            <a:pPr indent="0" marL="0">
              <a:lnSpc>
                <a:spcPct val="130000"/>
              </a:lnSpc>
              <a:buNone/>
            </a:pPr>
            <a:r>
              <a:rPr lang="en-US" sz="1300" dirty="0">
                <a:solidFill>
                  <a:srgbClr val="DCEEE4"/>
                </a:solidFill>
                <a:latin typeface="Consolas" pitchFamily="34" charset="0"/>
                <a:ea typeface="Consolas" pitchFamily="34" charset="-122"/>
                <a:cs typeface="Consolas" pitchFamily="34" charset="-120"/>
              </a:rPr>
              <a:t>the smallest weight —</a:t>
            </a:r>
            <a:endParaRPr lang="en-US" sz="1300" dirty="0"/>
          </a:p>
          <a:p>
            <a:pPr indent="0" marL="0">
              <a:lnSpc>
                <a:spcPct val="130000"/>
              </a:lnSpc>
              <a:buNone/>
            </a:pPr>
            <a:r>
              <a:rPr lang="en-US" sz="1300" dirty="0">
                <a:solidFill>
                  <a:srgbClr val="DCEEE4"/>
                </a:solidFill>
                <a:latin typeface="Consolas" pitchFamily="34" charset="0"/>
                <a:ea typeface="Consolas" pitchFamily="34" charset="-122"/>
                <a:cs typeface="Consolas" pitchFamily="34" charset="-120"/>
              </a:rPr>
              <a:t>supporting, not leading</a:t>
            </a:r>
            <a:endParaRPr lang="en-US" sz="1300" dirty="0"/>
          </a:p>
        </p:txBody>
      </p:sp>
      <p:sp>
        <p:nvSpPr>
          <p:cNvPr id="15" name="Shape 13"/>
          <p:cNvSpPr/>
          <p:nvPr/>
        </p:nvSpPr>
        <p:spPr>
          <a:xfrm>
            <a:off x="6172200" y="3886200"/>
            <a:ext cx="5349240" cy="2194560"/>
          </a:xfrm>
          <a:prstGeom prst="roundRect">
            <a:avLst>
              <a:gd name="adj" fmla="val 2500"/>
            </a:avLst>
          </a:prstGeom>
          <a:solidFill>
            <a:srgbClr val="FFFFFF"/>
          </a:solidFill>
          <a:ln w="12700">
            <a:solidFill>
              <a:srgbClr val="E4DDD0"/>
            </a:solidFill>
            <a:prstDash val="solid"/>
          </a:ln>
          <a:effectLst>
            <a:outerShdw sx="100000" sy="100000" kx="0" ky="0" algn="bl" rotWithShape="0" blurRad="76200" dist="38100" dir="8100000">
              <a:srgbClr val="000000">
                <a:alpha val="12000"/>
              </a:srgbClr>
            </a:outerShdw>
          </a:effectLst>
        </p:spPr>
      </p:sp>
      <p:sp>
        <p:nvSpPr>
          <p:cNvPr id="16" name="Text 14"/>
          <p:cNvSpPr/>
          <p:nvPr/>
        </p:nvSpPr>
        <p:spPr>
          <a:xfrm>
            <a:off x="6446520" y="4041648"/>
            <a:ext cx="4754880" cy="274320"/>
          </a:xfrm>
          <a:prstGeom prst="rect">
            <a:avLst/>
          </a:prstGeom>
          <a:noFill/>
          <a:ln/>
        </p:spPr>
        <p:txBody>
          <a:bodyPr wrap="square" rtlCol="0" anchor="ctr"/>
          <a:lstStyle/>
          <a:p>
            <a:pPr indent="0" marL="0">
              <a:buNone/>
            </a:pPr>
            <a:r>
              <a:rPr lang="en-US" sz="1000" b="1" spc="100" kern="0" dirty="0">
                <a:solidFill>
                  <a:srgbClr val="1F6B4A"/>
                </a:solidFill>
                <a:latin typeface="Consolas" pitchFamily="34" charset="0"/>
                <a:ea typeface="Consolas" pitchFamily="34" charset="-122"/>
                <a:cs typeface="Consolas" pitchFamily="34" charset="-120"/>
              </a:rPr>
              <a:t>WHY THIS ROLE</a:t>
            </a:r>
            <a:endParaRPr lang="en-US" sz="1000" dirty="0"/>
          </a:p>
        </p:txBody>
      </p:sp>
      <p:sp>
        <p:nvSpPr>
          <p:cNvPr id="17" name="Text 15"/>
          <p:cNvSpPr/>
          <p:nvPr/>
        </p:nvSpPr>
        <p:spPr>
          <a:xfrm>
            <a:off x="6446520" y="4343400"/>
            <a:ext cx="4846320" cy="1600200"/>
          </a:xfrm>
          <a:prstGeom prst="rect">
            <a:avLst/>
          </a:prstGeom>
          <a:noFill/>
          <a:ln/>
        </p:spPr>
        <p:txBody>
          <a:bodyPr wrap="square" rtlCol="0" anchor="t"/>
          <a:lstStyle/>
          <a:p>
            <a:pPr indent="0" marL="0">
              <a:lnSpc>
                <a:spcPct val="120000"/>
              </a:lnSpc>
              <a:buNone/>
            </a:pPr>
            <a:r>
              <a:rPr lang="en-US" sz="1300" dirty="0">
                <a:solidFill>
                  <a:srgbClr val="1C2620"/>
                </a:solidFill>
                <a:latin typeface="Calibri" pitchFamily="34" charset="0"/>
                <a:ea typeface="Calibri" pitchFamily="34" charset="-122"/>
                <a:cs typeface="Calibri" pitchFamily="34" charset="-120"/>
              </a:rPr>
              <a:t>DRIVES, but with the lowest weight (10%). Volume validates that walls are active — but it's weighted low because volume can mislead (hedging flow isn't the same as directional conviction).</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1E8"/>
        </a:solidFill>
      </p:bgPr>
    </p:bg>
    <p:spTree>
      <p:nvGrpSpPr>
        <p:cNvPr id="1" name=""/>
        <p:cNvGrpSpPr/>
        <p:nvPr/>
      </p:nvGrpSpPr>
      <p:grpSpPr>
        <a:xfrm>
          <a:off x="0" y="0"/>
          <a:ext cx="0" cy="0"/>
          <a:chOff x="0" y="0"/>
          <a:chExt cx="0" cy="0"/>
        </a:xfrm>
      </p:grpSpPr>
      <p:sp>
        <p:nvSpPr>
          <p:cNvPr id="2" name="Text 0"/>
          <p:cNvSpPr/>
          <p:nvPr/>
        </p:nvSpPr>
        <p:spPr>
          <a:xfrm>
            <a:off x="640080" y="411480"/>
            <a:ext cx="10515600" cy="274320"/>
          </a:xfrm>
          <a:prstGeom prst="rect">
            <a:avLst/>
          </a:prstGeom>
          <a:noFill/>
          <a:ln/>
        </p:spPr>
        <p:txBody>
          <a:bodyPr wrap="square" rtlCol="0" anchor="ctr"/>
          <a:lstStyle/>
          <a:p>
            <a:pPr indent="0" marL="0">
              <a:buNone/>
            </a:pPr>
            <a:r>
              <a:rPr lang="en-US" sz="1100" b="1" spc="300" kern="0" dirty="0">
                <a:solidFill>
                  <a:srgbClr val="4A6572"/>
                </a:solidFill>
                <a:latin typeface="Consolas" pitchFamily="34" charset="0"/>
                <a:ea typeface="Consolas" pitchFamily="34" charset="-122"/>
                <a:cs typeface="Consolas" pitchFamily="34" charset="-120"/>
              </a:rPr>
              <a:t>INDICATOR 9 OF 10 · MOMENTUM</a:t>
            </a:r>
            <a:endParaRPr lang="en-US" sz="1100" dirty="0"/>
          </a:p>
        </p:txBody>
      </p:sp>
      <p:sp>
        <p:nvSpPr>
          <p:cNvPr id="3" name="Text 1"/>
          <p:cNvSpPr/>
          <p:nvPr/>
        </p:nvSpPr>
        <p:spPr>
          <a:xfrm>
            <a:off x="640080" y="694944"/>
            <a:ext cx="11064240" cy="640080"/>
          </a:xfrm>
          <a:prstGeom prst="rect">
            <a:avLst/>
          </a:prstGeom>
          <a:noFill/>
          <a:ln/>
        </p:spPr>
        <p:txBody>
          <a:bodyPr wrap="square" rtlCol="0" anchor="ctr"/>
          <a:lstStyle/>
          <a:p>
            <a:pPr indent="0" marL="0">
              <a:buNone/>
            </a:pPr>
            <a:r>
              <a:rPr lang="en-US" sz="2700" b="1" dirty="0">
                <a:solidFill>
                  <a:srgbClr val="1C2620"/>
                </a:solidFill>
                <a:latin typeface="Georgia" pitchFamily="34" charset="0"/>
                <a:ea typeface="Georgia" pitchFamily="34" charset="-122"/>
                <a:cs typeface="Georgia" pitchFamily="34" charset="-120"/>
              </a:rPr>
              <a:t>RSI (14)</a:t>
            </a:r>
            <a:endParaRPr lang="en-US" sz="2700" dirty="0"/>
          </a:p>
        </p:txBody>
      </p:sp>
      <p:sp>
        <p:nvSpPr>
          <p:cNvPr id="4" name="Shape 2"/>
          <p:cNvSpPr/>
          <p:nvPr/>
        </p:nvSpPr>
        <p:spPr>
          <a:xfrm>
            <a:off x="9052560" y="749808"/>
            <a:ext cx="1046074" cy="384048"/>
          </a:xfrm>
          <a:prstGeom prst="roundRect">
            <a:avLst>
              <a:gd name="adj" fmla="val 50000"/>
            </a:avLst>
          </a:prstGeom>
          <a:solidFill>
            <a:srgbClr val="4A6572"/>
          </a:solidFill>
          <a:ln/>
        </p:spPr>
      </p:sp>
      <p:sp>
        <p:nvSpPr>
          <p:cNvPr id="5" name="Text 3"/>
          <p:cNvSpPr/>
          <p:nvPr/>
        </p:nvSpPr>
        <p:spPr>
          <a:xfrm>
            <a:off x="9052560" y="749808"/>
            <a:ext cx="1046074" cy="384048"/>
          </a:xfrm>
          <a:prstGeom prst="rect">
            <a:avLst/>
          </a:prstGeom>
          <a:noFill/>
          <a:ln/>
        </p:spPr>
        <p:txBody>
          <a:bodyPr wrap="square" rtlCol="0" anchor="ctr"/>
          <a:lstStyle/>
          <a:p>
            <a:pPr algn="ctr" indent="0" marL="0">
              <a:buNone/>
            </a:pPr>
            <a:r>
              <a:rPr lang="en-US" sz="1100" b="1" spc="100" kern="0" dirty="0">
                <a:solidFill>
                  <a:srgbClr val="FFFFFF"/>
                </a:solidFill>
                <a:latin typeface="Consolas" pitchFamily="34" charset="0"/>
                <a:ea typeface="Consolas" pitchFamily="34" charset="-122"/>
                <a:cs typeface="Consolas" pitchFamily="34" charset="-120"/>
              </a:rPr>
              <a:t>DISPLAY</a:t>
            </a:r>
            <a:endParaRPr lang="en-US" sz="1100" dirty="0"/>
          </a:p>
        </p:txBody>
      </p:sp>
      <p:sp>
        <p:nvSpPr>
          <p:cNvPr id="6" name="Text 4"/>
          <p:cNvSpPr/>
          <p:nvPr/>
        </p:nvSpPr>
        <p:spPr>
          <a:xfrm>
            <a:off x="640080" y="1417320"/>
            <a:ext cx="10789920" cy="457200"/>
          </a:xfrm>
          <a:prstGeom prst="rect">
            <a:avLst/>
          </a:prstGeom>
          <a:noFill/>
          <a:ln/>
        </p:spPr>
        <p:txBody>
          <a:bodyPr wrap="square" rtlCol="0" anchor="ctr"/>
          <a:lstStyle/>
          <a:p>
            <a:pPr indent="0" marL="0">
              <a:buNone/>
            </a:pPr>
            <a:r>
              <a:rPr lang="en-US" sz="1500" i="1" dirty="0">
                <a:solidFill>
                  <a:srgbClr val="1C2620"/>
                </a:solidFill>
                <a:latin typeface="Calibri" pitchFamily="34" charset="0"/>
                <a:ea typeface="Calibri" pitchFamily="34" charset="-122"/>
                <a:cs typeface="Calibri" pitchFamily="34" charset="-120"/>
              </a:rPr>
              <a:t>Momentum — shown as a warning flag, but it does NOT pick the strategy.</a:t>
            </a:r>
            <a:endParaRPr lang="en-US" sz="1500" dirty="0"/>
          </a:p>
        </p:txBody>
      </p:sp>
      <p:sp>
        <p:nvSpPr>
          <p:cNvPr id="7" name="Shape 5"/>
          <p:cNvSpPr/>
          <p:nvPr/>
        </p:nvSpPr>
        <p:spPr>
          <a:xfrm>
            <a:off x="640080" y="1965960"/>
            <a:ext cx="5349240" cy="4114800"/>
          </a:xfrm>
          <a:prstGeom prst="roundRect">
            <a:avLst>
              <a:gd name="adj" fmla="val 1333"/>
            </a:avLst>
          </a:prstGeom>
          <a:solidFill>
            <a:srgbClr val="FFFFFF"/>
          </a:solidFill>
          <a:ln w="12700">
            <a:solidFill>
              <a:srgbClr val="E4DDD0"/>
            </a:solidFill>
            <a:prstDash val="solid"/>
          </a:ln>
          <a:effectLst>
            <a:outerShdw sx="100000" sy="100000" kx="0" ky="0" algn="bl" rotWithShape="0" blurRad="76200" dist="38100" dir="8100000">
              <a:srgbClr val="000000">
                <a:alpha val="12000"/>
              </a:srgbClr>
            </a:outerShdw>
          </a:effectLst>
        </p:spPr>
      </p:sp>
      <p:sp>
        <p:nvSpPr>
          <p:cNvPr id="8" name="Text 6"/>
          <p:cNvSpPr/>
          <p:nvPr/>
        </p:nvSpPr>
        <p:spPr>
          <a:xfrm>
            <a:off x="914400" y="2121408"/>
            <a:ext cx="4754880" cy="274320"/>
          </a:xfrm>
          <a:prstGeom prst="rect">
            <a:avLst/>
          </a:prstGeom>
          <a:noFill/>
          <a:ln/>
        </p:spPr>
        <p:txBody>
          <a:bodyPr wrap="square" rtlCol="0" anchor="ctr"/>
          <a:lstStyle/>
          <a:p>
            <a:pPr indent="0" marL="0">
              <a:buNone/>
            </a:pPr>
            <a:r>
              <a:rPr lang="en-US" sz="1000" b="1" spc="100" kern="0" dirty="0">
                <a:solidFill>
                  <a:srgbClr val="4A6572"/>
                </a:solidFill>
                <a:latin typeface="Consolas" pitchFamily="34" charset="0"/>
                <a:ea typeface="Consolas" pitchFamily="34" charset="-122"/>
                <a:cs typeface="Consolas" pitchFamily="34" charset="-120"/>
              </a:rPr>
              <a:t>WHAT IT MEASURES</a:t>
            </a:r>
            <a:endParaRPr lang="en-US" sz="1000" dirty="0"/>
          </a:p>
        </p:txBody>
      </p:sp>
      <p:sp>
        <p:nvSpPr>
          <p:cNvPr id="9" name="Text 7"/>
          <p:cNvSpPr/>
          <p:nvPr/>
        </p:nvSpPr>
        <p:spPr>
          <a:xfrm>
            <a:off x="914400" y="2423160"/>
            <a:ext cx="4846320" cy="1143000"/>
          </a:xfrm>
          <a:prstGeom prst="rect">
            <a:avLst/>
          </a:prstGeom>
          <a:noFill/>
          <a:ln/>
        </p:spPr>
        <p:txBody>
          <a:bodyPr wrap="square" rtlCol="0" anchor="t"/>
          <a:lstStyle/>
          <a:p>
            <a:pPr indent="0" marL="0">
              <a:lnSpc>
                <a:spcPct val="120000"/>
              </a:lnSpc>
              <a:buNone/>
            </a:pPr>
            <a:r>
              <a:rPr lang="en-US" sz="1350" dirty="0">
                <a:solidFill>
                  <a:srgbClr val="1C2620"/>
                </a:solidFill>
                <a:latin typeface="Calibri" pitchFamily="34" charset="0"/>
                <a:ea typeface="Calibri" pitchFamily="34" charset="-122"/>
                <a:cs typeface="Calibri" pitchFamily="34" charset="-120"/>
              </a:rPr>
              <a:t>The Relative Strength Index: whether a stock is overbought (run up too far, too fast) or oversold (sold off too hard). A momentum gauge from 0–100.</a:t>
            </a:r>
            <a:endParaRPr lang="en-US" sz="1350" dirty="0"/>
          </a:p>
        </p:txBody>
      </p:sp>
      <p:sp>
        <p:nvSpPr>
          <p:cNvPr id="10" name="Text 8"/>
          <p:cNvSpPr/>
          <p:nvPr/>
        </p:nvSpPr>
        <p:spPr>
          <a:xfrm>
            <a:off x="914400" y="3611880"/>
            <a:ext cx="4754880" cy="274320"/>
          </a:xfrm>
          <a:prstGeom prst="rect">
            <a:avLst/>
          </a:prstGeom>
          <a:noFill/>
          <a:ln/>
        </p:spPr>
        <p:txBody>
          <a:bodyPr wrap="square" rtlCol="0" anchor="ctr"/>
          <a:lstStyle/>
          <a:p>
            <a:pPr indent="0" marL="0">
              <a:buNone/>
            </a:pPr>
            <a:r>
              <a:rPr lang="en-US" sz="1000" b="1" spc="100" kern="0" dirty="0">
                <a:solidFill>
                  <a:srgbClr val="4A6572"/>
                </a:solidFill>
                <a:latin typeface="Consolas" pitchFamily="34" charset="0"/>
                <a:ea typeface="Consolas" pitchFamily="34" charset="-122"/>
                <a:cs typeface="Consolas" pitchFamily="34" charset="-120"/>
              </a:rPr>
              <a:t>HOW IT'S COMPUTED</a:t>
            </a:r>
            <a:endParaRPr lang="en-US" sz="1000" dirty="0"/>
          </a:p>
        </p:txBody>
      </p:sp>
      <p:sp>
        <p:nvSpPr>
          <p:cNvPr id="11" name="Text 9"/>
          <p:cNvSpPr/>
          <p:nvPr/>
        </p:nvSpPr>
        <p:spPr>
          <a:xfrm>
            <a:off x="914400" y="3913632"/>
            <a:ext cx="4846320" cy="2011680"/>
          </a:xfrm>
          <a:prstGeom prst="rect">
            <a:avLst/>
          </a:prstGeom>
          <a:noFill/>
          <a:ln/>
        </p:spPr>
        <p:txBody>
          <a:bodyPr wrap="square" rtlCol="0" anchor="t"/>
          <a:lstStyle/>
          <a:p>
            <a:pPr indent="0" marL="0">
              <a:lnSpc>
                <a:spcPct val="120000"/>
              </a:lnSpc>
              <a:buNone/>
            </a:pPr>
            <a:r>
              <a:rPr lang="en-US" sz="1300" dirty="0">
                <a:solidFill>
                  <a:srgbClr val="1C2620"/>
                </a:solidFill>
                <a:latin typeface="Calibri" pitchFamily="34" charset="0"/>
                <a:ea typeface="Calibri" pitchFamily="34" charset="-122"/>
                <a:cs typeface="Calibri" pitchFamily="34" charset="-120"/>
              </a:rPr>
              <a:t>Standard 14-day RSI. Computed and displayed on every recommendation — but it is NOT an input to the strategy gates.</a:t>
            </a:r>
            <a:endParaRPr lang="en-US" sz="1300" dirty="0"/>
          </a:p>
        </p:txBody>
      </p:sp>
      <p:sp>
        <p:nvSpPr>
          <p:cNvPr id="12" name="Shape 10"/>
          <p:cNvSpPr/>
          <p:nvPr/>
        </p:nvSpPr>
        <p:spPr>
          <a:xfrm>
            <a:off x="6172200" y="1965960"/>
            <a:ext cx="5349240" cy="1783080"/>
          </a:xfrm>
          <a:prstGeom prst="roundRect">
            <a:avLst>
              <a:gd name="adj" fmla="val 3077"/>
            </a:avLst>
          </a:prstGeom>
          <a:solidFill>
            <a:srgbClr val="0F2A1F"/>
          </a:solidFill>
          <a:ln/>
        </p:spPr>
      </p:sp>
      <p:sp>
        <p:nvSpPr>
          <p:cNvPr id="13" name="Text 11"/>
          <p:cNvSpPr/>
          <p:nvPr/>
        </p:nvSpPr>
        <p:spPr>
          <a:xfrm>
            <a:off x="6446520" y="2121408"/>
            <a:ext cx="4754880" cy="274320"/>
          </a:xfrm>
          <a:prstGeom prst="rect">
            <a:avLst/>
          </a:prstGeom>
          <a:noFill/>
          <a:ln/>
        </p:spPr>
        <p:txBody>
          <a:bodyPr wrap="square" rtlCol="0" anchor="ctr"/>
          <a:lstStyle/>
          <a:p>
            <a:pPr indent="0" marL="0">
              <a:buNone/>
            </a:pPr>
            <a:r>
              <a:rPr lang="en-US" sz="1000" b="1" spc="100" kern="0" dirty="0">
                <a:solidFill>
                  <a:srgbClr val="CAA12F"/>
                </a:solidFill>
                <a:latin typeface="Consolas" pitchFamily="34" charset="0"/>
                <a:ea typeface="Consolas" pitchFamily="34" charset="-122"/>
                <a:cs typeface="Consolas" pitchFamily="34" charset="-120"/>
              </a:rPr>
              <a:t>THRESHOLDS / VALUES</a:t>
            </a:r>
            <a:endParaRPr lang="en-US" sz="1000" dirty="0"/>
          </a:p>
        </p:txBody>
      </p:sp>
      <p:sp>
        <p:nvSpPr>
          <p:cNvPr id="14" name="Text 12"/>
          <p:cNvSpPr/>
          <p:nvPr/>
        </p:nvSpPr>
        <p:spPr>
          <a:xfrm>
            <a:off x="6446520" y="2423160"/>
            <a:ext cx="4846320" cy="1234440"/>
          </a:xfrm>
          <a:prstGeom prst="rect">
            <a:avLst/>
          </a:prstGeom>
          <a:noFill/>
          <a:ln/>
        </p:spPr>
        <p:txBody>
          <a:bodyPr wrap="square" rtlCol="0" anchor="t"/>
          <a:lstStyle/>
          <a:p>
            <a:pPr indent="0" marL="0">
              <a:lnSpc>
                <a:spcPct val="130000"/>
              </a:lnSpc>
              <a:buNone/>
            </a:pPr>
            <a:r>
              <a:rPr lang="en-US" sz="1300" dirty="0">
                <a:solidFill>
                  <a:srgbClr val="DCEEE4"/>
                </a:solidFill>
                <a:latin typeface="Consolas" pitchFamily="34" charset="0"/>
                <a:ea typeface="Consolas" pitchFamily="34" charset="-122"/>
                <a:cs typeface="Consolas" pitchFamily="34" charset="-120"/>
              </a:rPr>
              <a:t>RSI &gt; 75 → overbought flag</a:t>
            </a:r>
            <a:endParaRPr lang="en-US" sz="1300" dirty="0"/>
          </a:p>
          <a:p>
            <a:pPr indent="0" marL="0">
              <a:lnSpc>
                <a:spcPct val="130000"/>
              </a:lnSpc>
              <a:buNone/>
            </a:pPr>
            <a:r>
              <a:rPr lang="en-US" sz="1300" dirty="0">
                <a:solidFill>
                  <a:srgbClr val="DCEEE4"/>
                </a:solidFill>
                <a:latin typeface="Consolas" pitchFamily="34" charset="0"/>
                <a:ea typeface="Consolas" pitchFamily="34" charset="-122"/>
                <a:cs typeface="Consolas" pitchFamily="34" charset="-120"/>
              </a:rPr>
              <a:t>RSI &lt; 25 → oversold flag</a:t>
            </a:r>
            <a:endParaRPr lang="en-US" sz="1300" dirty="0"/>
          </a:p>
          <a:p>
            <a:pPr indent="0" marL="0">
              <a:lnSpc>
                <a:spcPct val="130000"/>
              </a:lnSpc>
              <a:buNone/>
            </a:pPr>
            <a:r>
              <a:rPr lang="en-US" sz="1300" dirty="0">
                <a:solidFill>
                  <a:srgbClr val="DCEEE4"/>
                </a:solidFill>
                <a:latin typeface="Consolas" pitchFamily="34" charset="0"/>
                <a:ea typeface="Consolas" pitchFamily="34" charset="-122"/>
                <a:cs typeface="Consolas" pitchFamily="34" charset="-120"/>
              </a:rPr>
              <a:t>otherwise → no flag</a:t>
            </a:r>
            <a:endParaRPr lang="en-US" sz="1300" dirty="0"/>
          </a:p>
          <a:p>
            <a:pPr indent="0" marL="0">
              <a:lnSpc>
                <a:spcPct val="130000"/>
              </a:lnSpc>
              <a:buNone/>
            </a:pPr>
            <a:endParaRPr lang="en-US" sz="1300" dirty="0"/>
          </a:p>
          <a:p>
            <a:pPr indent="0" marL="0">
              <a:lnSpc>
                <a:spcPct val="130000"/>
              </a:lnSpc>
              <a:buNone/>
            </a:pPr>
            <a:r>
              <a:rPr lang="en-US" sz="1300" dirty="0">
                <a:solidFill>
                  <a:srgbClr val="DCEEE4"/>
                </a:solidFill>
                <a:latin typeface="Consolas" pitchFamily="34" charset="0"/>
                <a:ea typeface="Consolas" pitchFamily="34" charset="-122"/>
                <a:cs typeface="Consolas" pitchFamily="34" charset="-120"/>
              </a:rPr>
              <a:t>(a WARNING, not a gate)</a:t>
            </a:r>
            <a:endParaRPr lang="en-US" sz="1300" dirty="0"/>
          </a:p>
        </p:txBody>
      </p:sp>
      <p:sp>
        <p:nvSpPr>
          <p:cNvPr id="15" name="Shape 13"/>
          <p:cNvSpPr/>
          <p:nvPr/>
        </p:nvSpPr>
        <p:spPr>
          <a:xfrm>
            <a:off x="6172200" y="3886200"/>
            <a:ext cx="5349240" cy="2194560"/>
          </a:xfrm>
          <a:prstGeom prst="roundRect">
            <a:avLst>
              <a:gd name="adj" fmla="val 2500"/>
            </a:avLst>
          </a:prstGeom>
          <a:solidFill>
            <a:srgbClr val="EEF0F1"/>
          </a:solidFill>
          <a:ln w="12700">
            <a:solidFill>
              <a:srgbClr val="E4DDD0"/>
            </a:solidFill>
            <a:prstDash val="solid"/>
          </a:ln>
          <a:effectLst>
            <a:outerShdw sx="100000" sy="100000" kx="0" ky="0" algn="bl" rotWithShape="0" blurRad="76200" dist="38100" dir="8100000">
              <a:srgbClr val="000000">
                <a:alpha val="12000"/>
              </a:srgbClr>
            </a:outerShdw>
          </a:effectLst>
        </p:spPr>
      </p:sp>
      <p:sp>
        <p:nvSpPr>
          <p:cNvPr id="16" name="Text 14"/>
          <p:cNvSpPr/>
          <p:nvPr/>
        </p:nvSpPr>
        <p:spPr>
          <a:xfrm>
            <a:off x="6446520" y="4041648"/>
            <a:ext cx="4754880" cy="274320"/>
          </a:xfrm>
          <a:prstGeom prst="rect">
            <a:avLst/>
          </a:prstGeom>
          <a:noFill/>
          <a:ln/>
        </p:spPr>
        <p:txBody>
          <a:bodyPr wrap="square" rtlCol="0" anchor="ctr"/>
          <a:lstStyle/>
          <a:p>
            <a:pPr indent="0" marL="0">
              <a:buNone/>
            </a:pPr>
            <a:r>
              <a:rPr lang="en-US" sz="1000" b="1" spc="100" kern="0" dirty="0">
                <a:solidFill>
                  <a:srgbClr val="4A6572"/>
                </a:solidFill>
                <a:latin typeface="Consolas" pitchFamily="34" charset="0"/>
                <a:ea typeface="Consolas" pitchFamily="34" charset="-122"/>
                <a:cs typeface="Consolas" pitchFamily="34" charset="-120"/>
              </a:rPr>
              <a:t>WHY THIS ROLE</a:t>
            </a:r>
            <a:endParaRPr lang="en-US" sz="1000" dirty="0"/>
          </a:p>
        </p:txBody>
      </p:sp>
      <p:sp>
        <p:nvSpPr>
          <p:cNvPr id="17" name="Text 15"/>
          <p:cNvSpPr/>
          <p:nvPr/>
        </p:nvSpPr>
        <p:spPr>
          <a:xfrm>
            <a:off x="6446520" y="4343400"/>
            <a:ext cx="4846320" cy="1600200"/>
          </a:xfrm>
          <a:prstGeom prst="rect">
            <a:avLst/>
          </a:prstGeom>
          <a:noFill/>
          <a:ln/>
        </p:spPr>
        <p:txBody>
          <a:bodyPr wrap="square" rtlCol="0" anchor="t"/>
          <a:lstStyle/>
          <a:p>
            <a:pPr indent="0" marL="0">
              <a:lnSpc>
                <a:spcPct val="120000"/>
              </a:lnSpc>
              <a:buNone/>
            </a:pPr>
            <a:r>
              <a:rPr lang="en-US" sz="1300" dirty="0">
                <a:solidFill>
                  <a:srgbClr val="1C2620"/>
                </a:solidFill>
                <a:latin typeface="Calibri" pitchFamily="34" charset="0"/>
                <a:ea typeface="Calibri" pitchFamily="34" charset="-122"/>
                <a:cs typeface="Calibri" pitchFamily="34" charset="-120"/>
              </a:rPr>
              <a:t>DISPLAY-only — deliberately. RSI whipsaws: a stock can sit 'overbought' for weeks in a strong trend, or flash oversold on a one-day dip. Gating on it would flip recommendations on noise. We surface it as context (and the LLM can cite it), but ADX and the SMA stack are far more stable signals to actually gate on.</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1E8"/>
        </a:solidFill>
      </p:bgPr>
    </p:bg>
    <p:spTree>
      <p:nvGrpSpPr>
        <p:cNvPr id="1" name=""/>
        <p:cNvGrpSpPr/>
        <p:nvPr/>
      </p:nvGrpSpPr>
      <p:grpSpPr>
        <a:xfrm>
          <a:off x="0" y="0"/>
          <a:ext cx="0" cy="0"/>
          <a:chOff x="0" y="0"/>
          <a:chExt cx="0" cy="0"/>
        </a:xfrm>
      </p:grpSpPr>
      <p:sp>
        <p:nvSpPr>
          <p:cNvPr id="2" name="Text 0"/>
          <p:cNvSpPr/>
          <p:nvPr/>
        </p:nvSpPr>
        <p:spPr>
          <a:xfrm>
            <a:off x="640080" y="411480"/>
            <a:ext cx="10515600" cy="274320"/>
          </a:xfrm>
          <a:prstGeom prst="rect">
            <a:avLst/>
          </a:prstGeom>
          <a:noFill/>
          <a:ln/>
        </p:spPr>
        <p:txBody>
          <a:bodyPr wrap="square" rtlCol="0" anchor="ctr"/>
          <a:lstStyle/>
          <a:p>
            <a:pPr indent="0" marL="0">
              <a:buNone/>
            </a:pPr>
            <a:r>
              <a:rPr lang="en-US" sz="1100" b="1" spc="300" kern="0" dirty="0">
                <a:solidFill>
                  <a:srgbClr val="4A6572"/>
                </a:solidFill>
                <a:latin typeface="Consolas" pitchFamily="34" charset="0"/>
                <a:ea typeface="Consolas" pitchFamily="34" charset="-122"/>
                <a:cs typeface="Consolas" pitchFamily="34" charset="-120"/>
              </a:rPr>
              <a:t>INDICATOR 10 OF 10 · MOMENTUM/TREND</a:t>
            </a:r>
            <a:endParaRPr lang="en-US" sz="1100" dirty="0"/>
          </a:p>
        </p:txBody>
      </p:sp>
      <p:sp>
        <p:nvSpPr>
          <p:cNvPr id="3" name="Text 1"/>
          <p:cNvSpPr/>
          <p:nvPr/>
        </p:nvSpPr>
        <p:spPr>
          <a:xfrm>
            <a:off x="640080" y="694944"/>
            <a:ext cx="11064240" cy="640080"/>
          </a:xfrm>
          <a:prstGeom prst="rect">
            <a:avLst/>
          </a:prstGeom>
          <a:noFill/>
          <a:ln/>
        </p:spPr>
        <p:txBody>
          <a:bodyPr wrap="square" rtlCol="0" anchor="ctr"/>
          <a:lstStyle/>
          <a:p>
            <a:pPr indent="0" marL="0">
              <a:buNone/>
            </a:pPr>
            <a:r>
              <a:rPr lang="en-US" sz="2700" b="1" dirty="0">
                <a:solidFill>
                  <a:srgbClr val="1C2620"/>
                </a:solidFill>
                <a:latin typeface="Georgia" pitchFamily="34" charset="0"/>
                <a:ea typeface="Georgia" pitchFamily="34" charset="-122"/>
                <a:cs typeface="Georgia" pitchFamily="34" charset="-120"/>
              </a:rPr>
              <a:t>MACD</a:t>
            </a:r>
            <a:endParaRPr lang="en-US" sz="2700" dirty="0"/>
          </a:p>
        </p:txBody>
      </p:sp>
      <p:sp>
        <p:nvSpPr>
          <p:cNvPr id="4" name="Shape 2"/>
          <p:cNvSpPr/>
          <p:nvPr/>
        </p:nvSpPr>
        <p:spPr>
          <a:xfrm>
            <a:off x="9052560" y="749808"/>
            <a:ext cx="1046074" cy="384048"/>
          </a:xfrm>
          <a:prstGeom prst="roundRect">
            <a:avLst>
              <a:gd name="adj" fmla="val 50000"/>
            </a:avLst>
          </a:prstGeom>
          <a:solidFill>
            <a:srgbClr val="4A6572"/>
          </a:solidFill>
          <a:ln/>
        </p:spPr>
      </p:sp>
      <p:sp>
        <p:nvSpPr>
          <p:cNvPr id="5" name="Text 3"/>
          <p:cNvSpPr/>
          <p:nvPr/>
        </p:nvSpPr>
        <p:spPr>
          <a:xfrm>
            <a:off x="9052560" y="749808"/>
            <a:ext cx="1046074" cy="384048"/>
          </a:xfrm>
          <a:prstGeom prst="rect">
            <a:avLst/>
          </a:prstGeom>
          <a:noFill/>
          <a:ln/>
        </p:spPr>
        <p:txBody>
          <a:bodyPr wrap="square" rtlCol="0" anchor="ctr"/>
          <a:lstStyle/>
          <a:p>
            <a:pPr algn="ctr" indent="0" marL="0">
              <a:buNone/>
            </a:pPr>
            <a:r>
              <a:rPr lang="en-US" sz="1100" b="1" spc="100" kern="0" dirty="0">
                <a:solidFill>
                  <a:srgbClr val="FFFFFF"/>
                </a:solidFill>
                <a:latin typeface="Consolas" pitchFamily="34" charset="0"/>
                <a:ea typeface="Consolas" pitchFamily="34" charset="-122"/>
                <a:cs typeface="Consolas" pitchFamily="34" charset="-120"/>
              </a:rPr>
              <a:t>DISPLAY</a:t>
            </a:r>
            <a:endParaRPr lang="en-US" sz="1100" dirty="0"/>
          </a:p>
        </p:txBody>
      </p:sp>
      <p:sp>
        <p:nvSpPr>
          <p:cNvPr id="6" name="Text 4"/>
          <p:cNvSpPr/>
          <p:nvPr/>
        </p:nvSpPr>
        <p:spPr>
          <a:xfrm>
            <a:off x="640080" y="1417320"/>
            <a:ext cx="10789920" cy="457200"/>
          </a:xfrm>
          <a:prstGeom prst="rect">
            <a:avLst/>
          </a:prstGeom>
          <a:noFill/>
          <a:ln/>
        </p:spPr>
        <p:txBody>
          <a:bodyPr wrap="square" rtlCol="0" anchor="ctr"/>
          <a:lstStyle/>
          <a:p>
            <a:pPr indent="0" marL="0">
              <a:buNone/>
            </a:pPr>
            <a:r>
              <a:rPr lang="en-US" sz="1500" i="1" dirty="0">
                <a:solidFill>
                  <a:srgbClr val="1C2620"/>
                </a:solidFill>
                <a:latin typeface="Calibri" pitchFamily="34" charset="0"/>
                <a:ea typeface="Calibri" pitchFamily="34" charset="-122"/>
                <a:cs typeface="Calibri" pitchFamily="34" charset="-120"/>
              </a:rPr>
              <a:t>Momentum/trend crossover — computed and shown, but not used in selection.</a:t>
            </a:r>
            <a:endParaRPr lang="en-US" sz="1500" dirty="0"/>
          </a:p>
        </p:txBody>
      </p:sp>
      <p:sp>
        <p:nvSpPr>
          <p:cNvPr id="7" name="Shape 5"/>
          <p:cNvSpPr/>
          <p:nvPr/>
        </p:nvSpPr>
        <p:spPr>
          <a:xfrm>
            <a:off x="640080" y="1965960"/>
            <a:ext cx="5349240" cy="4114800"/>
          </a:xfrm>
          <a:prstGeom prst="roundRect">
            <a:avLst>
              <a:gd name="adj" fmla="val 1333"/>
            </a:avLst>
          </a:prstGeom>
          <a:solidFill>
            <a:srgbClr val="FFFFFF"/>
          </a:solidFill>
          <a:ln w="12700">
            <a:solidFill>
              <a:srgbClr val="E4DDD0"/>
            </a:solidFill>
            <a:prstDash val="solid"/>
          </a:ln>
          <a:effectLst>
            <a:outerShdw sx="100000" sy="100000" kx="0" ky="0" algn="bl" rotWithShape="0" blurRad="76200" dist="38100" dir="8100000">
              <a:srgbClr val="000000">
                <a:alpha val="12000"/>
              </a:srgbClr>
            </a:outerShdw>
          </a:effectLst>
        </p:spPr>
      </p:sp>
      <p:sp>
        <p:nvSpPr>
          <p:cNvPr id="8" name="Text 6"/>
          <p:cNvSpPr/>
          <p:nvPr/>
        </p:nvSpPr>
        <p:spPr>
          <a:xfrm>
            <a:off x="914400" y="2121408"/>
            <a:ext cx="4754880" cy="274320"/>
          </a:xfrm>
          <a:prstGeom prst="rect">
            <a:avLst/>
          </a:prstGeom>
          <a:noFill/>
          <a:ln/>
        </p:spPr>
        <p:txBody>
          <a:bodyPr wrap="square" rtlCol="0" anchor="ctr"/>
          <a:lstStyle/>
          <a:p>
            <a:pPr indent="0" marL="0">
              <a:buNone/>
            </a:pPr>
            <a:r>
              <a:rPr lang="en-US" sz="1000" b="1" spc="100" kern="0" dirty="0">
                <a:solidFill>
                  <a:srgbClr val="4A6572"/>
                </a:solidFill>
                <a:latin typeface="Consolas" pitchFamily="34" charset="0"/>
                <a:ea typeface="Consolas" pitchFamily="34" charset="-122"/>
                <a:cs typeface="Consolas" pitchFamily="34" charset="-120"/>
              </a:rPr>
              <a:t>WHAT IT MEASURES</a:t>
            </a:r>
            <a:endParaRPr lang="en-US" sz="1000" dirty="0"/>
          </a:p>
        </p:txBody>
      </p:sp>
      <p:sp>
        <p:nvSpPr>
          <p:cNvPr id="9" name="Text 7"/>
          <p:cNvSpPr/>
          <p:nvPr/>
        </p:nvSpPr>
        <p:spPr>
          <a:xfrm>
            <a:off x="914400" y="2423160"/>
            <a:ext cx="4846320" cy="1143000"/>
          </a:xfrm>
          <a:prstGeom prst="rect">
            <a:avLst/>
          </a:prstGeom>
          <a:noFill/>
          <a:ln/>
        </p:spPr>
        <p:txBody>
          <a:bodyPr wrap="square" rtlCol="0" anchor="t"/>
          <a:lstStyle/>
          <a:p>
            <a:pPr indent="0" marL="0">
              <a:lnSpc>
                <a:spcPct val="120000"/>
              </a:lnSpc>
              <a:buNone/>
            </a:pPr>
            <a:r>
              <a:rPr lang="en-US" sz="1350" dirty="0">
                <a:solidFill>
                  <a:srgbClr val="1C2620"/>
                </a:solidFill>
                <a:latin typeface="Calibri" pitchFamily="34" charset="0"/>
                <a:ea typeface="Calibri" pitchFamily="34" charset="-122"/>
                <a:cs typeface="Calibri" pitchFamily="34" charset="-120"/>
              </a:rPr>
              <a:t>Moving Average Convergence Divergence: the relationship between two moving averages, used by traders to spot momentum shifts and crossovers.</a:t>
            </a:r>
            <a:endParaRPr lang="en-US" sz="1350" dirty="0"/>
          </a:p>
        </p:txBody>
      </p:sp>
      <p:sp>
        <p:nvSpPr>
          <p:cNvPr id="10" name="Text 8"/>
          <p:cNvSpPr/>
          <p:nvPr/>
        </p:nvSpPr>
        <p:spPr>
          <a:xfrm>
            <a:off x="914400" y="3611880"/>
            <a:ext cx="4754880" cy="274320"/>
          </a:xfrm>
          <a:prstGeom prst="rect">
            <a:avLst/>
          </a:prstGeom>
          <a:noFill/>
          <a:ln/>
        </p:spPr>
        <p:txBody>
          <a:bodyPr wrap="square" rtlCol="0" anchor="ctr"/>
          <a:lstStyle/>
          <a:p>
            <a:pPr indent="0" marL="0">
              <a:buNone/>
            </a:pPr>
            <a:r>
              <a:rPr lang="en-US" sz="1000" b="1" spc="100" kern="0" dirty="0">
                <a:solidFill>
                  <a:srgbClr val="4A6572"/>
                </a:solidFill>
                <a:latin typeface="Consolas" pitchFamily="34" charset="0"/>
                <a:ea typeface="Consolas" pitchFamily="34" charset="-122"/>
                <a:cs typeface="Consolas" pitchFamily="34" charset="-120"/>
              </a:rPr>
              <a:t>HOW IT'S COMPUTED</a:t>
            </a:r>
            <a:endParaRPr lang="en-US" sz="1000" dirty="0"/>
          </a:p>
        </p:txBody>
      </p:sp>
      <p:sp>
        <p:nvSpPr>
          <p:cNvPr id="11" name="Text 9"/>
          <p:cNvSpPr/>
          <p:nvPr/>
        </p:nvSpPr>
        <p:spPr>
          <a:xfrm>
            <a:off x="914400" y="3913632"/>
            <a:ext cx="4846320" cy="2011680"/>
          </a:xfrm>
          <a:prstGeom prst="rect">
            <a:avLst/>
          </a:prstGeom>
          <a:noFill/>
          <a:ln/>
        </p:spPr>
        <p:txBody>
          <a:bodyPr wrap="square" rtlCol="0" anchor="t"/>
          <a:lstStyle/>
          <a:p>
            <a:pPr indent="0" marL="0">
              <a:lnSpc>
                <a:spcPct val="120000"/>
              </a:lnSpc>
              <a:buNone/>
            </a:pPr>
            <a:r>
              <a:rPr lang="en-US" sz="1300" dirty="0">
                <a:solidFill>
                  <a:srgbClr val="1C2620"/>
                </a:solidFill>
                <a:latin typeface="Calibri" pitchFamily="34" charset="0"/>
                <a:ea typeface="Calibri" pitchFamily="34" charset="-122"/>
                <a:cs typeface="Calibri" pitchFamily="34" charset="-120"/>
              </a:rPr>
              <a:t>Standard MACD (12/26/9 EMAs). Calculated and available for display, but does not feed the strategy cascade.</a:t>
            </a:r>
            <a:endParaRPr lang="en-US" sz="1300" dirty="0"/>
          </a:p>
        </p:txBody>
      </p:sp>
      <p:sp>
        <p:nvSpPr>
          <p:cNvPr id="12" name="Shape 10"/>
          <p:cNvSpPr/>
          <p:nvPr/>
        </p:nvSpPr>
        <p:spPr>
          <a:xfrm>
            <a:off x="6172200" y="1965960"/>
            <a:ext cx="5349240" cy="1783080"/>
          </a:xfrm>
          <a:prstGeom prst="roundRect">
            <a:avLst>
              <a:gd name="adj" fmla="val 3077"/>
            </a:avLst>
          </a:prstGeom>
          <a:solidFill>
            <a:srgbClr val="0F2A1F"/>
          </a:solidFill>
          <a:ln/>
        </p:spPr>
      </p:sp>
      <p:sp>
        <p:nvSpPr>
          <p:cNvPr id="13" name="Text 11"/>
          <p:cNvSpPr/>
          <p:nvPr/>
        </p:nvSpPr>
        <p:spPr>
          <a:xfrm>
            <a:off x="6446520" y="2121408"/>
            <a:ext cx="4754880" cy="274320"/>
          </a:xfrm>
          <a:prstGeom prst="rect">
            <a:avLst/>
          </a:prstGeom>
          <a:noFill/>
          <a:ln/>
        </p:spPr>
        <p:txBody>
          <a:bodyPr wrap="square" rtlCol="0" anchor="ctr"/>
          <a:lstStyle/>
          <a:p>
            <a:pPr indent="0" marL="0">
              <a:buNone/>
            </a:pPr>
            <a:r>
              <a:rPr lang="en-US" sz="1000" b="1" spc="100" kern="0" dirty="0">
                <a:solidFill>
                  <a:srgbClr val="CAA12F"/>
                </a:solidFill>
                <a:latin typeface="Consolas" pitchFamily="34" charset="0"/>
                <a:ea typeface="Consolas" pitchFamily="34" charset="-122"/>
                <a:cs typeface="Consolas" pitchFamily="34" charset="-120"/>
              </a:rPr>
              <a:t>THRESHOLDS / VALUES</a:t>
            </a:r>
            <a:endParaRPr lang="en-US" sz="1000" dirty="0"/>
          </a:p>
        </p:txBody>
      </p:sp>
      <p:sp>
        <p:nvSpPr>
          <p:cNvPr id="14" name="Text 12"/>
          <p:cNvSpPr/>
          <p:nvPr/>
        </p:nvSpPr>
        <p:spPr>
          <a:xfrm>
            <a:off x="6446520" y="2423160"/>
            <a:ext cx="4846320" cy="1234440"/>
          </a:xfrm>
          <a:prstGeom prst="rect">
            <a:avLst/>
          </a:prstGeom>
          <a:noFill/>
          <a:ln/>
        </p:spPr>
        <p:txBody>
          <a:bodyPr wrap="square" rtlCol="0" anchor="t"/>
          <a:lstStyle/>
          <a:p>
            <a:pPr indent="0" marL="0">
              <a:lnSpc>
                <a:spcPct val="130000"/>
              </a:lnSpc>
              <a:buNone/>
            </a:pPr>
            <a:r>
              <a:rPr lang="en-US" sz="1300" dirty="0">
                <a:solidFill>
                  <a:srgbClr val="DCEEE4"/>
                </a:solidFill>
                <a:latin typeface="Consolas" pitchFamily="34" charset="0"/>
                <a:ea typeface="Consolas" pitchFamily="34" charset="-122"/>
                <a:cs typeface="Consolas" pitchFamily="34" charset="-120"/>
              </a:rPr>
              <a:t>computed: line, signal,</a:t>
            </a:r>
            <a:endParaRPr lang="en-US" sz="1300" dirty="0"/>
          </a:p>
          <a:p>
            <a:pPr indent="0" marL="0">
              <a:lnSpc>
                <a:spcPct val="130000"/>
              </a:lnSpc>
              <a:buNone/>
            </a:pPr>
            <a:r>
              <a:rPr lang="en-US" sz="1300" dirty="0">
                <a:solidFill>
                  <a:srgbClr val="DCEEE4"/>
                </a:solidFill>
                <a:latin typeface="Consolas" pitchFamily="34" charset="0"/>
                <a:ea typeface="Consolas" pitchFamily="34" charset="-122"/>
                <a:cs typeface="Consolas" pitchFamily="34" charset="-120"/>
              </a:rPr>
              <a:t>histogram</a:t>
            </a:r>
            <a:endParaRPr lang="en-US" sz="1300" dirty="0"/>
          </a:p>
          <a:p>
            <a:pPr indent="0" marL="0">
              <a:lnSpc>
                <a:spcPct val="130000"/>
              </a:lnSpc>
              <a:buNone/>
            </a:pPr>
            <a:endParaRPr lang="en-US" sz="1300" dirty="0"/>
          </a:p>
          <a:p>
            <a:pPr indent="0" marL="0">
              <a:lnSpc>
                <a:spcPct val="130000"/>
              </a:lnSpc>
              <a:buNone/>
            </a:pPr>
            <a:r>
              <a:rPr lang="en-US" sz="1300" dirty="0">
                <a:solidFill>
                  <a:srgbClr val="DCEEE4"/>
                </a:solidFill>
                <a:latin typeface="Consolas" pitchFamily="34" charset="0"/>
                <a:ea typeface="Consolas" pitchFamily="34" charset="-122"/>
                <a:cs typeface="Consolas" pitchFamily="34" charset="-120"/>
              </a:rPr>
              <a:t>shown for context</a:t>
            </a:r>
            <a:endParaRPr lang="en-US" sz="1300" dirty="0"/>
          </a:p>
          <a:p>
            <a:pPr indent="0" marL="0">
              <a:lnSpc>
                <a:spcPct val="130000"/>
              </a:lnSpc>
              <a:buNone/>
            </a:pPr>
            <a:endParaRPr lang="en-US" sz="1300" dirty="0"/>
          </a:p>
          <a:p>
            <a:pPr indent="0" marL="0">
              <a:lnSpc>
                <a:spcPct val="130000"/>
              </a:lnSpc>
              <a:buNone/>
            </a:pPr>
            <a:r>
              <a:rPr lang="en-US" sz="1300" dirty="0">
                <a:solidFill>
                  <a:srgbClr val="DCEEE4"/>
                </a:solidFill>
                <a:latin typeface="Consolas" pitchFamily="34" charset="0"/>
                <a:ea typeface="Consolas" pitchFamily="34" charset="-122"/>
                <a:cs typeface="Consolas" pitchFamily="34" charset="-120"/>
              </a:rPr>
              <a:t>NOT an input to any gate</a:t>
            </a:r>
            <a:endParaRPr lang="en-US" sz="1300" dirty="0"/>
          </a:p>
        </p:txBody>
      </p:sp>
      <p:sp>
        <p:nvSpPr>
          <p:cNvPr id="15" name="Shape 13"/>
          <p:cNvSpPr/>
          <p:nvPr/>
        </p:nvSpPr>
        <p:spPr>
          <a:xfrm>
            <a:off x="6172200" y="3886200"/>
            <a:ext cx="5349240" cy="2194560"/>
          </a:xfrm>
          <a:prstGeom prst="roundRect">
            <a:avLst>
              <a:gd name="adj" fmla="val 2500"/>
            </a:avLst>
          </a:prstGeom>
          <a:solidFill>
            <a:srgbClr val="EEF0F1"/>
          </a:solidFill>
          <a:ln w="12700">
            <a:solidFill>
              <a:srgbClr val="E4DDD0"/>
            </a:solidFill>
            <a:prstDash val="solid"/>
          </a:ln>
          <a:effectLst>
            <a:outerShdw sx="100000" sy="100000" kx="0" ky="0" algn="bl" rotWithShape="0" blurRad="76200" dist="38100" dir="8100000">
              <a:srgbClr val="000000">
                <a:alpha val="12000"/>
              </a:srgbClr>
            </a:outerShdw>
          </a:effectLst>
        </p:spPr>
      </p:sp>
      <p:sp>
        <p:nvSpPr>
          <p:cNvPr id="16" name="Text 14"/>
          <p:cNvSpPr/>
          <p:nvPr/>
        </p:nvSpPr>
        <p:spPr>
          <a:xfrm>
            <a:off x="6446520" y="4041648"/>
            <a:ext cx="4754880" cy="274320"/>
          </a:xfrm>
          <a:prstGeom prst="rect">
            <a:avLst/>
          </a:prstGeom>
          <a:noFill/>
          <a:ln/>
        </p:spPr>
        <p:txBody>
          <a:bodyPr wrap="square" rtlCol="0" anchor="ctr"/>
          <a:lstStyle/>
          <a:p>
            <a:pPr indent="0" marL="0">
              <a:buNone/>
            </a:pPr>
            <a:r>
              <a:rPr lang="en-US" sz="1000" b="1" spc="100" kern="0" dirty="0">
                <a:solidFill>
                  <a:srgbClr val="4A6572"/>
                </a:solidFill>
                <a:latin typeface="Consolas" pitchFamily="34" charset="0"/>
                <a:ea typeface="Consolas" pitchFamily="34" charset="-122"/>
                <a:cs typeface="Consolas" pitchFamily="34" charset="-120"/>
              </a:rPr>
              <a:t>WHY THIS ROLE</a:t>
            </a:r>
            <a:endParaRPr lang="en-US" sz="1000" dirty="0"/>
          </a:p>
        </p:txBody>
      </p:sp>
      <p:sp>
        <p:nvSpPr>
          <p:cNvPr id="17" name="Text 15"/>
          <p:cNvSpPr/>
          <p:nvPr/>
        </p:nvSpPr>
        <p:spPr>
          <a:xfrm>
            <a:off x="6446520" y="4343400"/>
            <a:ext cx="4846320" cy="1600200"/>
          </a:xfrm>
          <a:prstGeom prst="rect">
            <a:avLst/>
          </a:prstGeom>
          <a:noFill/>
          <a:ln/>
        </p:spPr>
        <p:txBody>
          <a:bodyPr wrap="square" rtlCol="0" anchor="t"/>
          <a:lstStyle/>
          <a:p>
            <a:pPr indent="0" marL="0">
              <a:lnSpc>
                <a:spcPct val="120000"/>
              </a:lnSpc>
              <a:buNone/>
            </a:pPr>
            <a:r>
              <a:rPr lang="en-US" sz="1300" dirty="0">
                <a:solidFill>
                  <a:srgbClr val="1C2620"/>
                </a:solidFill>
                <a:latin typeface="Calibri" pitchFamily="34" charset="0"/>
                <a:ea typeface="Calibri" pitchFamily="34" charset="-122"/>
                <a:cs typeface="Calibri" pitchFamily="34" charset="-120"/>
              </a:rPr>
              <a:t>DISPLAY-only. MACD overlaps heavily with what the SMA stack and ADX already tell us about direction and momentum. Rather than double-count a correlated signal in the gates, we show it as supporting context and let the cleaner signals drive.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Indicators — One Per Slide</dc:title>
  <dc:subject>PptxGenJS Presentation</dc:subject>
  <dc:creator>NewLeaf System</dc:creator>
  <cp:lastModifiedBy>NewLeaf System</cp:lastModifiedBy>
  <cp:revision>1</cp:revision>
  <dcterms:created xsi:type="dcterms:W3CDTF">2026-05-26T12:09:15Z</dcterms:created>
  <dcterms:modified xsi:type="dcterms:W3CDTF">2026-05-26T12:09:15Z</dcterms:modified>
</cp:coreProperties>
</file>