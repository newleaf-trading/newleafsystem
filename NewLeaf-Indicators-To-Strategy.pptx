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F6B4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657600" cy="3657600"/>
          </a:xfrm>
          <a:prstGeom prst="ellipse">
            <a:avLst/>
          </a:prstGeom>
          <a:solidFill>
            <a:srgbClr val="2F9E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NEWLEAF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11 Indicators to One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feed 11 numbers into a black box. They reduce into a handful of clear readings — then a simple sequence of questions picks the strategy.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stages: combine the signals → run them through the gates.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stages: combine, then decide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 raw indicators never hit the decision directly. First they reduce into 5 readings. Those readings run the gate cascade.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200400" cy="4069080"/>
          </a:xfrm>
          <a:prstGeom prst="roundRect">
            <a:avLst>
              <a:gd name="adj" fmla="val 1714"/>
            </a:avLst>
          </a:prstGeom>
          <a:solidFill>
            <a:srgbClr val="163A2B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that drive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07792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 50/100/200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ADX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Bollinger width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(ATM)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/ RV ratio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/ GEX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Interest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4041648"/>
            <a:ext cx="548640" cy="0"/>
          </a:xfrm>
          <a:prstGeom prst="line">
            <a:avLst/>
          </a:prstGeom>
          <a:noFill/>
          <a:ln w="31750">
            <a:solidFill>
              <a:srgbClr val="1F6B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2011680"/>
            <a:ext cx="3200400" cy="40690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readings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92040" y="2926080"/>
            <a:ext cx="73152" cy="45720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pPr indent="0" marL="0">
              <a:buNone/>
            </a:pPr>
            <a:r>
              <a:rPr lang="en-US" sz="10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SMA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3456432"/>
            <a:ext cx="73152" cy="457200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4564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pPr indent="0" marL="0">
              <a:buNone/>
            </a:pPr>
            <a:r>
              <a:rPr lang="en-US" sz="10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ADX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3986784"/>
            <a:ext cx="73152" cy="45720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9867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regime</a:t>
            </a:r>
            <a:pPr indent="0" marL="0">
              <a:buNone/>
            </a:pPr>
            <a:r>
              <a:rPr lang="en-US" sz="10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Bollinger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4517136"/>
            <a:ext cx="73152" cy="45720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45171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value</a:t>
            </a:r>
            <a:pPr indent="0" marL="0">
              <a:buNone/>
            </a:pPr>
            <a:r>
              <a:rPr lang="en-US" sz="10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IV + IV/RV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5047488"/>
            <a:ext cx="73152" cy="45720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5047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pPr indent="0" marL="0">
              <a:buNone/>
            </a:pPr>
            <a:r>
              <a:rPr lang="en-US" sz="1050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GEX+OI+Vol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0" y="4041648"/>
            <a:ext cx="548640" cy="0"/>
          </a:xfrm>
          <a:prstGeom prst="line">
            <a:avLst/>
          </a:prstGeom>
          <a:noFill/>
          <a:ln w="31750">
            <a:solidFill>
              <a:srgbClr val="1F6B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0" y="2011680"/>
            <a:ext cx="2834640" cy="4069080"/>
          </a:xfrm>
          <a:prstGeom prst="roundRect">
            <a:avLst>
              <a:gd name="adj" fmla="val 1935"/>
            </a:avLst>
          </a:prstGeom>
          <a:solidFill>
            <a:srgbClr val="163A2B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1540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1540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cascade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91540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gate whose conditions match the readings wins.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15400" y="374904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2F9E6B"/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1 strategy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1540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 defined-risk structures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and MACD are computed for display but never enter Stage 1 — so they never affect the pick.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indicators combine into 5 readings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readings are a clean threshold on one indicator. The exception is confidence — a weighted blend of four.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09728" cy="77724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20756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 50/100/200 stack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bullish / bearish / neutral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16352"/>
            <a:ext cx="109728" cy="777240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1635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281635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 &gt;30 / moderate 20-30 / weak &lt;20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66744"/>
            <a:ext cx="109728" cy="77724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66744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REGIME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7764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Bollinger width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0" y="366674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squeeze &lt;5% / normal / expansion &gt;15%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17136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517136"/>
            <a:ext cx="109728" cy="77724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17136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VALUE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46268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(absolute) + IV/RV ratio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0" y="451713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rich (sell) vs cheap, IV/RV &lt;1.0 (buy)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67528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367528"/>
            <a:ext cx="109728" cy="77724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36752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54772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0.40×OI + 0.35×GEX + 0.15×delta + 0.10×Vol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0" y="536752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0–1 score — how trustworthy the walls 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CONFIDENCE blends multiple indicators. The other four are direct threshold reads — transparent and inspectable.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 · THE DECISION CASCADE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readings run through the gates — first match wins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3677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≥0.60 + band 3–15%?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walls, range-bound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80960" y="1627632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DCEEE4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62763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Condor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134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no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478024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478024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&gt;15% (or moderate + IV≥25%)?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71600" y="29352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range, asymmetric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0" y="2596896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DCEEE4"/>
          </a:solidFill>
          <a:ln w="12700">
            <a:solidFill>
              <a:srgbClr val="2F9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59689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Wing Butterfly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2826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447288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447288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57530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≠ neutral AND strength ≠ weak?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71600" y="39044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committed trend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80960" y="3566160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DCEEE4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56616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 Put / Bear Call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251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416552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416552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A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454456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AND IV&lt;25% AND IV/RV&lt;1.0?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48737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volatility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80960" y="4535424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DCEEE4"/>
          </a:solidFill>
          <a:ln w="12700">
            <a:solidFill>
              <a:srgbClr val="CAA1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45354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A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Spread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52212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5385816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" y="5385816"/>
            <a:ext cx="411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71600" y="55138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371600" y="584301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signal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680960" y="5504688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EEF0F1"/>
          </a:solidFill>
          <a:ln w="12700">
            <a:solidFill>
              <a:srgbClr val="7D8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550468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Butterfly (fallback)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DETAILED FLOWCHART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tree — follow yes → strategy, no ↓ next gate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484632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0.60 AND band 3–15%?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892808"/>
            <a:ext cx="1371600" cy="0"/>
          </a:xfrm>
          <a:prstGeom prst="line">
            <a:avLst/>
          </a:prstGeom>
          <a:noFill/>
          <a:ln w="25400">
            <a:solidFill>
              <a:srgbClr val="1F6B4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71500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0" y="1609344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DCEEE4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60934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Condor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231136"/>
            <a:ext cx="0" cy="237744"/>
          </a:xfrm>
          <a:prstGeom prst="line">
            <a:avLst/>
          </a:prstGeom>
          <a:noFill/>
          <a:ln w="22225">
            <a:solidFill>
              <a:srgbClr val="7D8A8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481328" y="22494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484632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2F9E6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468880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&gt; 15% (wide range)?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2807208"/>
            <a:ext cx="1371600" cy="0"/>
          </a:xfrm>
          <a:prstGeom prst="line">
            <a:avLst/>
          </a:prstGeom>
          <a:noFill/>
          <a:ln w="25400">
            <a:solidFill>
              <a:srgbClr val="2F9E6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715000" y="2514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2523744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DCEEE4"/>
          </a:solidFill>
          <a:ln w="12700">
            <a:solidFill>
              <a:srgbClr val="2F9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52374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Wing Butterfly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3145536"/>
            <a:ext cx="0" cy="237744"/>
          </a:xfrm>
          <a:prstGeom prst="line">
            <a:avLst/>
          </a:prstGeom>
          <a:noFill/>
          <a:ln w="22225">
            <a:solidFill>
              <a:srgbClr val="7D8A8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81328" y="31638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3383280"/>
            <a:ext cx="484632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2D6A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383280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real? (direction ≠ neutral, ADX ≠ weak)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3721608"/>
            <a:ext cx="1371600" cy="0"/>
          </a:xfrm>
          <a:prstGeom prst="line">
            <a:avLst/>
          </a:prstGeom>
          <a:noFill/>
          <a:ln w="25400">
            <a:solidFill>
              <a:srgbClr val="2D6A8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715000" y="3429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3438144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DCEEE4"/>
          </a:solidFill>
          <a:ln w="12700">
            <a:solidFill>
              <a:srgbClr val="2D6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43814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 Put / Bear Call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4059936"/>
            <a:ext cx="0" cy="237744"/>
          </a:xfrm>
          <a:prstGeom prst="line">
            <a:avLst/>
          </a:prstGeom>
          <a:noFill/>
          <a:ln w="22225">
            <a:solidFill>
              <a:srgbClr val="7D8A82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481328" y="40782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" y="4297680"/>
            <a:ext cx="484632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CAA12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4297680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A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AND vol cheap? (IV&lt;25, IV/RV&lt;1.0)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0" y="4636008"/>
            <a:ext cx="1371600" cy="0"/>
          </a:xfrm>
          <a:prstGeom prst="line">
            <a:avLst/>
          </a:prstGeom>
          <a:noFill/>
          <a:ln w="25400">
            <a:solidFill>
              <a:srgbClr val="CAA12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715000" y="43434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4352544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DCEEE4"/>
          </a:solidFill>
          <a:ln w="12700">
            <a:solidFill>
              <a:srgbClr val="CAA1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435254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A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Spread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371600" y="4974336"/>
            <a:ext cx="0" cy="237744"/>
          </a:xfrm>
          <a:prstGeom prst="line">
            <a:avLst/>
          </a:prstGeom>
          <a:noFill/>
          <a:ln w="22225">
            <a:solidFill>
              <a:srgbClr val="7D8A82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481328" y="49926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2960" y="5212080"/>
            <a:ext cx="4846320" cy="676656"/>
          </a:xfrm>
          <a:prstGeom prst="roundRect">
            <a:avLst>
              <a:gd name="adj" fmla="val 6757"/>
            </a:avLst>
          </a:prstGeom>
          <a:solidFill>
            <a:srgbClr val="EEF0F1"/>
          </a:solidFill>
          <a:ln w="19050">
            <a:solidFill>
              <a:srgbClr val="4A65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" y="5212080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—  </a:t>
            </a:r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matched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5550408"/>
            <a:ext cx="1371600" cy="0"/>
          </a:xfrm>
          <a:prstGeom prst="line">
            <a:avLst/>
          </a:prstGeom>
          <a:noFill/>
          <a:ln w="25400">
            <a:solidFill>
              <a:srgbClr val="4A657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40880" y="5266944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EEF0F1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526694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Butterfly  (fallback)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top-down: the first gate that says “yes” wins and the walk stops. The fallback only catches a stock no earlier gate claimed.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PUTTING BOTH STAGES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stock, all the way through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11 indicators reduce to 5 readings, then fall through the gates to a single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163A2B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299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A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 — READINGS (illustrative: a quiet large-cap)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2606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neutral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stack mixed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0604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 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regime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width 9%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value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06040" y="4389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IV/RV 0.95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06040" y="4983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4983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walls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3886200"/>
            <a:ext cx="457200" cy="0"/>
          </a:xfrm>
          <a:prstGeom prst="line">
            <a:avLst/>
          </a:prstGeom>
          <a:noFill/>
          <a:ln w="31750">
            <a:solidFill>
              <a:srgbClr val="1F6B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187452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 — GATE WALK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Condor gate: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0.62 ≥ 0.60 ✓  band 9% in 3–15% ✓
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0" y="324612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DCEEE4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3101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FIRST MATCH → Iron Condor
</a:t>
            </a:r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stops here. No later gate is even checked.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66560" y="4343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right: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 to ride (weak ADX), but strong walls to sell against — so we sell both sides and profit if it stays put.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F6B4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 CASCADE, NOT A SCORE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ask in order, instead of scoring everything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3291840"/>
          </a:xfrm>
          <a:prstGeom prst="rect">
            <a:avLst/>
          </a:prstGeom>
          <a:solidFill>
            <a:srgbClr val="2F9E6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 = clear reasoning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pick has ONE clear reason — the gate it matched. 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always answer “why this strategy?” with a specific condition: the walls were strong, or the trend was confirmed, or vol was cheap. 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blended score would hide that behind a number.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28800"/>
            <a:ext cx="109728" cy="3291840"/>
          </a:xfrm>
          <a:prstGeom prst="rect">
            <a:avLst/>
          </a:prstGeom>
          <a:solidFill>
            <a:srgbClr val="CAA1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= priority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encodes what we trust most. 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walls (condor) are checked before a wide-band butterfly; a confirmed trend before the cheap-vol calendar. 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(butterfly) sits last — it only catches what nothing else claimed, and that's honest, not a failure.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A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indicators in. 5 readings. A priority-ordered cascade. One explainable strategy out.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Indicators Combine into a Strategy</dc:title>
  <dc:subject>PptxGenJS Presentation</dc:subject>
  <dc:creator>NewLeaf System</dc:creator>
  <cp:lastModifiedBy>NewLeaf System</cp:lastModifiedBy>
  <cp:revision>1</cp:revision>
  <dcterms:created xsi:type="dcterms:W3CDTF">2026-05-26T12:17:58Z</dcterms:created>
  <dcterms:modified xsi:type="dcterms:W3CDTF">2026-05-26T12:17:58Z</dcterms:modified>
</cp:coreProperties>
</file>